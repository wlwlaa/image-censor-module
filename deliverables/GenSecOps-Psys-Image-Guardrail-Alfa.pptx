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cb219ca82e4464" /><Relationship Type="http://schemas.openxmlformats.org/officeDocument/2006/relationships/extended-properties" Target="/docProps/app.xml" Id="Raf19ca42f4014f5e" /><Relationship Type="http://schemas.openxmlformats.org/officeDocument/2006/relationships/officeDocument" Target="/ppt/presentation.xml" Id="R90e7d0c5e51146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650f6532bc431e"/>
  </p:sldMasterIdLst>
  <p:notesMasterIdLst>
    <p:notesMasterId xmlns:r="http://schemas.openxmlformats.org/officeDocument/2006/relationships" r:id="Rc5a23d2016bf4740"/>
  </p:notesMasterIdLst>
  <p:sldIdLst>
    <p:sldId xmlns:r="http://schemas.openxmlformats.org/officeDocument/2006/relationships" id="256" r:id="R311f177ee4df4ef7"/>
    <p:sldId xmlns:r="http://schemas.openxmlformats.org/officeDocument/2006/relationships" id="257" r:id="R7f335e2605964de7"/>
    <p:sldId xmlns:r="http://schemas.openxmlformats.org/officeDocument/2006/relationships" id="258" r:id="R87397ff5f9f54874"/>
    <p:sldId xmlns:r="http://schemas.openxmlformats.org/officeDocument/2006/relationships" id="259" r:id="R8c62b0d60fb94cdd"/>
    <p:sldId xmlns:r="http://schemas.openxmlformats.org/officeDocument/2006/relationships" id="260" r:id="R542a704a0b5547cd"/>
    <p:sldId xmlns:r="http://schemas.openxmlformats.org/officeDocument/2006/relationships" id="261" r:id="R8c670e1ffd0349b3"/>
    <p:sldId xmlns:r="http://schemas.openxmlformats.org/officeDocument/2006/relationships" id="262" r:id="R3c71a39d5f4c4cfd"/>
    <p:sldId xmlns:r="http://schemas.openxmlformats.org/officeDocument/2006/relationships" id="263" r:id="R793076f04229450b"/>
    <p:sldId xmlns:r="http://schemas.openxmlformats.org/officeDocument/2006/relationships" id="264" r:id="Ra192aa31413f4c60"/>
    <p:sldId xmlns:r="http://schemas.openxmlformats.org/officeDocument/2006/relationships" id="265" r:id="R0d29c78559f444ba"/>
    <p:sldId xmlns:r="http://schemas.openxmlformats.org/officeDocument/2006/relationships" id="266" r:id="R73a80738acfd4276"/>
    <p:sldId xmlns:r="http://schemas.openxmlformats.org/officeDocument/2006/relationships" id="267" r:id="R888ad105acec4ac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50f6532bc431e" /><Relationship Type="http://schemas.openxmlformats.org/officeDocument/2006/relationships/theme" Target="/ppt/theme/theme1.xml" Id="R2fc2da3436454975" /><Relationship Type="http://schemas.openxmlformats.org/officeDocument/2006/relationships/notesMaster" Target="/ppt/notesMasters/notesMaster1.xml" Id="Rc5a23d2016bf4740" /><Relationship Type="http://schemas.openxmlformats.org/officeDocument/2006/relationships/presProps" Target="/ppt/presProps.xml" Id="Rb192cdb8c8a0448b" /><Relationship Type="http://schemas.openxmlformats.org/officeDocument/2006/relationships/viewProps" Target="/ppt/viewProps.xml" Id="Rf30b51500b4a4207" /><Relationship Type="http://schemas.openxmlformats.org/officeDocument/2006/relationships/tableStyles" Target="/ppt/tableStyles.xml" Id="R17eec846d0344e1f" /><Relationship Type="http://schemas.openxmlformats.org/officeDocument/2006/relationships/slide" Target="/ppt/slides/slide1.xml" Id="R311f177ee4df4ef7" /><Relationship Type="http://schemas.openxmlformats.org/officeDocument/2006/relationships/slide" Target="/ppt/slides/slide2.xml" Id="R7f335e2605964de7" /><Relationship Type="http://schemas.openxmlformats.org/officeDocument/2006/relationships/slide" Target="/ppt/slides/slide3.xml" Id="R87397ff5f9f54874" /><Relationship Type="http://schemas.openxmlformats.org/officeDocument/2006/relationships/slide" Target="/ppt/slides/slide4.xml" Id="R8c62b0d60fb94cdd" /><Relationship Type="http://schemas.openxmlformats.org/officeDocument/2006/relationships/slide" Target="/ppt/slides/slide5.xml" Id="R542a704a0b5547cd" /><Relationship Type="http://schemas.openxmlformats.org/officeDocument/2006/relationships/slide" Target="/ppt/slides/slide6.xml" Id="R8c670e1ffd0349b3" /><Relationship Type="http://schemas.openxmlformats.org/officeDocument/2006/relationships/slide" Target="/ppt/slides/slide7.xml" Id="R3c71a39d5f4c4cfd" /><Relationship Type="http://schemas.openxmlformats.org/officeDocument/2006/relationships/slide" Target="/ppt/slides/slide8.xml" Id="R793076f04229450b" /><Relationship Type="http://schemas.openxmlformats.org/officeDocument/2006/relationships/slide" Target="/ppt/slides/slide9.xml" Id="Ra192aa31413f4c60" /><Relationship Type="http://schemas.openxmlformats.org/officeDocument/2006/relationships/slide" Target="/ppt/slides/slide10.xml" Id="R0d29c78559f444ba" /><Relationship Type="http://schemas.openxmlformats.org/officeDocument/2006/relationships/slide" Target="/ppt/slides/slide11.xml" Id="R73a80738acfd4276" /><Relationship Type="http://schemas.openxmlformats.org/officeDocument/2006/relationships/slide" Target="/ppt/slides/slide12.xml" Id="R888ad105acec4a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2d9d96fbed544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00235910f144fd" /><Relationship Type="http://schemas.openxmlformats.org/officeDocument/2006/relationships/notesMaster" Target="/ppt/notesMasters/notesMaster1.xml" Id="Rd20ff6cf9f8540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abdbbe9e564130" /><Relationship Type="http://schemas.openxmlformats.org/officeDocument/2006/relationships/notesMaster" Target="/ppt/notesMasters/notesMaster1.xml" Id="Rfc9c93be203a41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077f75e5244cfd" /><Relationship Type="http://schemas.openxmlformats.org/officeDocument/2006/relationships/notesMaster" Target="/ppt/notesMasters/notesMaster1.xml" Id="R6c0d7e393a3348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c8315edee04428" /><Relationship Type="http://schemas.openxmlformats.org/officeDocument/2006/relationships/notesMaster" Target="/ppt/notesMasters/notesMaster1.xml" Id="R441997a035844d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e3ae8cbb174e2c" /><Relationship Type="http://schemas.openxmlformats.org/officeDocument/2006/relationships/notesMaster" Target="/ppt/notesMasters/notesMaster1.xml" Id="R50633da1163748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1bb1e91a974b4e" /><Relationship Type="http://schemas.openxmlformats.org/officeDocument/2006/relationships/notesMaster" Target="/ppt/notesMasters/notesMaster1.xml" Id="R78108416b22349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a210653fd34196" /><Relationship Type="http://schemas.openxmlformats.org/officeDocument/2006/relationships/notesMaster" Target="/ppt/notesMasters/notesMaster1.xml" Id="Rf750b53b337742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6cdffc79c843e1" /><Relationship Type="http://schemas.openxmlformats.org/officeDocument/2006/relationships/notesMaster" Target="/ppt/notesMasters/notesMaster1.xml" Id="R755ac7dc7d2c45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8bca46b6ca474b" /><Relationship Type="http://schemas.openxmlformats.org/officeDocument/2006/relationships/notesMaster" Target="/ppt/notesMasters/notesMaster1.xml" Id="R3e6c12d52b7747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9801978ae54733" /><Relationship Type="http://schemas.openxmlformats.org/officeDocument/2006/relationships/notesMaster" Target="/ppt/notesMasters/notesMaster1.xml" Id="R4367b8afce7341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89c2b5ac1a4ad4" /><Relationship Type="http://schemas.openxmlformats.org/officeDocument/2006/relationships/notesMaster" Target="/ppt/notesMasters/notesMaster1.xml" Id="Recd02a4a69924a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bc56c08ab24c98" /><Relationship Type="http://schemas.openxmlformats.org/officeDocument/2006/relationships/notesMaster" Target="/ppt/notesMasters/notesMaster1.xml" Id="R81b99224159743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Генерация изображений уже появляется в банковских процессах. Риск не ограничивается NSFW: возможны fraud-материалы, PII-утечки и репутационные инциденты. Контур допуска должен принадлежать банку.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Фильтры провайдера полезны как сигнал, но не как единственный банковский контроль. Мы считаем генератор недоверенной системой.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Критическая угроза: любой путь, который позволяет выдать непроверенный артефакт. Поэтому мы контролируем не только ML-сигналы, но и хранение, подпись, аудит и поведение при сбое.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Детекторы дают сигналы. Policy Engine принимает решение. Quarantine, Release и Verified Download обеспечивают исполнение решения.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Путь допуска единый для text2image, img2img и editing: проверки входа, карантин, обязательные проверки выхода, детерминированное решение и только затем выдача.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MLSecOps-контроль, потому что он предотвращает, исполняет и доказывает решение. ML-модель является заменяемым адаптером, а не центром доверия.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ShieldGemma и облачные сервисы могут подключаться через адаптер. Отличие нашего решения: банковская политика, изоляция до решения и проверяемая выдача.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защите показываем только то, что реально реализовано: обязательность проверок, аудит до promotion, паспорт артефакта и отказ при ошибке.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 укладывается в 3–5 минут: safe allow, unsafe block, PII pre-block, detector failure fail-closed и подмена release-файла с ответом 409.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не выдуманная статистика, а проверяемые свойства MVP: пять сценариев демо, три вердикта, две зоны хранения и HTTP 409 при подмене.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Честно разделяем MVP и production: сейчас доказан enforcement path. Далее нужны реальные детекторы, банковский runtime и операционный контур.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тезис: мы не строим еще один классификатор изображений. Мы строим независимый контур допуска изображений для банка.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24436e1fc4707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db3b1e90ff5409d" /><Relationship Type="http://schemas.openxmlformats.org/officeDocument/2006/relationships/slideLayout" Target="/ppt/slideLayouts/slideLayout2.xml" Id="R12876fa3197c4d9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876fa3197c4d96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15c4aa9e454a82" /><Relationship Type="http://schemas.openxmlformats.org/officeDocument/2006/relationships/image" Target="/ppt/media/image.png" Id="R1a0fad488acc4571" /><Relationship Type="http://schemas.openxmlformats.org/officeDocument/2006/relationships/image" Target="/ppt/media/image2.png" Id="Ra7f4896ee8ca440e" /><Relationship Type="http://schemas.openxmlformats.org/officeDocument/2006/relationships/image" Target="/ppt/media/image.svg" Id="R51a6dd3289db4a63" /><Relationship Type="http://schemas.openxmlformats.org/officeDocument/2006/relationships/image" Target="/ppt/media/image2.svg" Id="R5343fc0c74864d80" /><Relationship Type="http://schemas.openxmlformats.org/officeDocument/2006/relationships/notesSlide" Target="/ppt/notesSlides/notesSlide1.xml" Id="R62c5bbfaedc84d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b3dd9bbbea4616" /><Relationship Type="http://schemas.openxmlformats.org/officeDocument/2006/relationships/image" Target="/ppt/media/image3.png" Id="R3bdf09066aef4329" /><Relationship Type="http://schemas.openxmlformats.org/officeDocument/2006/relationships/image" Target="/ppt/media/image3.svg" Id="Rff4140c114644c4c" /><Relationship Type="http://schemas.openxmlformats.org/officeDocument/2006/relationships/image" Target="/ppt/media/image4.png" Id="R12f183c232094994" /><Relationship Type="http://schemas.openxmlformats.org/officeDocument/2006/relationships/image" Target="/ppt/media/image4.svg" Id="R5e8e40d8accd4f8b" /><Relationship Type="http://schemas.openxmlformats.org/officeDocument/2006/relationships/image" Target="/ppt/media/image5.png" Id="R9216986e7ebe41ec" /><Relationship Type="http://schemas.openxmlformats.org/officeDocument/2006/relationships/image" Target="/ppt/media/image5.svg" Id="R211dbedc56044bc8" /><Relationship Type="http://schemas.openxmlformats.org/officeDocument/2006/relationships/notesSlide" Target="/ppt/notesSlides/notesSlide2.xml" Id="Ra29c4731d21d42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c2a5964c634438" /><Relationship Type="http://schemas.openxmlformats.org/officeDocument/2006/relationships/image" Target="/ppt/media/image6.png" Id="Rcfb34fa9247e44e0" /><Relationship Type="http://schemas.openxmlformats.org/officeDocument/2006/relationships/image" Target="/ppt/media/image6.svg" Id="R3abb85e78d4a43c8" /><Relationship Type="http://schemas.openxmlformats.org/officeDocument/2006/relationships/image" Target="/ppt/media/image7.png" Id="R60c16e56675a45d7" /><Relationship Type="http://schemas.openxmlformats.org/officeDocument/2006/relationships/image" Target="/ppt/media/image7.svg" Id="Rfeec7fcff13c4e5a" /><Relationship Type="http://schemas.openxmlformats.org/officeDocument/2006/relationships/image" Target="/ppt/media/image8.png" Id="R85a6e883e8314f7d" /><Relationship Type="http://schemas.openxmlformats.org/officeDocument/2006/relationships/image" Target="/ppt/media/image8.svg" Id="R9941dff899bd4b93" /><Relationship Type="http://schemas.openxmlformats.org/officeDocument/2006/relationships/image" Target="/ppt/media/image9.png" Id="R171ae24a65e2480f" /><Relationship Type="http://schemas.openxmlformats.org/officeDocument/2006/relationships/image" Target="/ppt/media/image9.svg" Id="Re772c14409b84d95" /><Relationship Type="http://schemas.openxmlformats.org/officeDocument/2006/relationships/image" Target="/ppt/media/image10.png" Id="R3bc6e4b1cf4b4e29" /><Relationship Type="http://schemas.openxmlformats.org/officeDocument/2006/relationships/image" Target="/ppt/media/image10.svg" Id="R4d032eeb72eb4bb6" /><Relationship Type="http://schemas.openxmlformats.org/officeDocument/2006/relationships/image" Target="/ppt/media/image11.png" Id="Re963501c56c248a8" /><Relationship Type="http://schemas.openxmlformats.org/officeDocument/2006/relationships/image" Target="/ppt/media/image11.svg" Id="Rcb86f53aa0544874" /><Relationship Type="http://schemas.openxmlformats.org/officeDocument/2006/relationships/image" Target="/ppt/media/image12.png" Id="R262e0269522749bd" /><Relationship Type="http://schemas.openxmlformats.org/officeDocument/2006/relationships/image" Target="/ppt/media/image12.svg" Id="R1379b7950ee847a1" /><Relationship Type="http://schemas.openxmlformats.org/officeDocument/2006/relationships/image" Target="/ppt/media/image13.png" Id="R61518800c75a4c94" /><Relationship Type="http://schemas.openxmlformats.org/officeDocument/2006/relationships/image" Target="/ppt/media/image13.svg" Id="R9fff37588486454d" /><Relationship Type="http://schemas.openxmlformats.org/officeDocument/2006/relationships/notesSlide" Target="/ppt/notesSlides/notesSlide3.xml" Id="Rd3cac955be944c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96049bc27a4a9a" /><Relationship Type="http://schemas.openxmlformats.org/officeDocument/2006/relationships/image" Target="/ppt/media/image14.png" Id="Reef916de97a04eea" /><Relationship Type="http://schemas.openxmlformats.org/officeDocument/2006/relationships/image" Target="/ppt/media/image14.svg" Id="Re176343fbae64e2b" /><Relationship Type="http://schemas.openxmlformats.org/officeDocument/2006/relationships/image" Target="/ppt/media/image15.png" Id="R8076fed4a34b49a8" /><Relationship Type="http://schemas.openxmlformats.org/officeDocument/2006/relationships/image" Target="/ppt/media/image15.svg" Id="R0c7fad4f4dcb4b98" /><Relationship Type="http://schemas.openxmlformats.org/officeDocument/2006/relationships/notesSlide" Target="/ppt/notesSlides/notesSlide4.xml" Id="R9eb43313b83a44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d847a671d64452" /><Relationship Type="http://schemas.openxmlformats.org/officeDocument/2006/relationships/image" Target="/ppt/media/image16.png" Id="R4aba76e94df14850" /><Relationship Type="http://schemas.openxmlformats.org/officeDocument/2006/relationships/image" Target="/ppt/media/image16.svg" Id="R8a911b8bf895456c" /><Relationship Type="http://schemas.openxmlformats.org/officeDocument/2006/relationships/image" Target="/ppt/media/image17.png" Id="R5369b4e583794695" /><Relationship Type="http://schemas.openxmlformats.org/officeDocument/2006/relationships/image" Target="/ppt/media/image17.svg" Id="R2de7d9acd7544f35" /><Relationship Type="http://schemas.openxmlformats.org/officeDocument/2006/relationships/image" Target="/ppt/media/image5.png" Id="Rd98c4de80a524651" /><Relationship Type="http://schemas.openxmlformats.org/officeDocument/2006/relationships/image" Target="/ppt/media/image5.svg" Id="R97d0059744704f6b" /><Relationship Type="http://schemas.openxmlformats.org/officeDocument/2006/relationships/notesSlide" Target="/ppt/notesSlides/notesSlide5.xml" Id="Rf1b5760f92a942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3bf60447ae490d" /><Relationship Type="http://schemas.openxmlformats.org/officeDocument/2006/relationships/image" Target="/ppt/media/image5.png" Id="R8955b5f4e1674632" /><Relationship Type="http://schemas.openxmlformats.org/officeDocument/2006/relationships/image" Target="/ppt/media/image5.svg" Id="R3a2098760b474bf7" /><Relationship Type="http://schemas.openxmlformats.org/officeDocument/2006/relationships/image" Target="/ppt/media/image18.png" Id="R4848ee4fb83b4158" /><Relationship Type="http://schemas.openxmlformats.org/officeDocument/2006/relationships/image" Target="/ppt/media/image18.svg" Id="R2dc9b7d469374cb1" /><Relationship Type="http://schemas.openxmlformats.org/officeDocument/2006/relationships/image" Target="/ppt/media/image19.png" Id="R4ae480f5f0084a75" /><Relationship Type="http://schemas.openxmlformats.org/officeDocument/2006/relationships/image" Target="/ppt/media/image20.png" Id="Rcfd60e2b296c47b1" /><Relationship Type="http://schemas.openxmlformats.org/officeDocument/2006/relationships/image" Target="/ppt/media/image21.png" Id="R16872ea164504bf8" /><Relationship Type="http://schemas.openxmlformats.org/officeDocument/2006/relationships/notesSlide" Target="/ppt/notesSlides/notesSlide6.xml" Id="R18f692a8654248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b55bfeede341aa" /><Relationship Type="http://schemas.openxmlformats.org/officeDocument/2006/relationships/image" Target="/ppt/media/image6.png" Id="Rdd61532b955442a0" /><Relationship Type="http://schemas.openxmlformats.org/officeDocument/2006/relationships/image" Target="/ppt/media/image6.svg" Id="R1992a4b34abe4f86" /><Relationship Type="http://schemas.openxmlformats.org/officeDocument/2006/relationships/image" Target="/ppt/media/image7.png" Id="R849f9393cc0747fa" /><Relationship Type="http://schemas.openxmlformats.org/officeDocument/2006/relationships/image" Target="/ppt/media/image7.svg" Id="R821e3958230f4ec5" /><Relationship Type="http://schemas.openxmlformats.org/officeDocument/2006/relationships/image" Target="/ppt/media/image8.png" Id="R6ef35046662e428a" /><Relationship Type="http://schemas.openxmlformats.org/officeDocument/2006/relationships/image" Target="/ppt/media/image8.svg" Id="Rf83248ca254a4e45" /><Relationship Type="http://schemas.openxmlformats.org/officeDocument/2006/relationships/image" Target="/ppt/media/image9.png" Id="R5d2152291bdf483a" /><Relationship Type="http://schemas.openxmlformats.org/officeDocument/2006/relationships/image" Target="/ppt/media/image9.svg" Id="R9194ddc5097b4a0c" /><Relationship Type="http://schemas.openxmlformats.org/officeDocument/2006/relationships/image" Target="/ppt/media/image10.png" Id="R66e5bc30d9264f97" /><Relationship Type="http://schemas.openxmlformats.org/officeDocument/2006/relationships/image" Target="/ppt/media/image10.svg" Id="R46b7c0c95bec4fe2" /><Relationship Type="http://schemas.openxmlformats.org/officeDocument/2006/relationships/image" Target="/ppt/media/image11.png" Id="Ra36a1f0230094f19" /><Relationship Type="http://schemas.openxmlformats.org/officeDocument/2006/relationships/image" Target="/ppt/media/image11.svg" Id="Rb64a34ebee034f7f" /><Relationship Type="http://schemas.openxmlformats.org/officeDocument/2006/relationships/image" Target="/ppt/media/image12.png" Id="Rfc2c3966481249a2" /><Relationship Type="http://schemas.openxmlformats.org/officeDocument/2006/relationships/image" Target="/ppt/media/image12.svg" Id="Rb6e36a5e5aca4318" /><Relationship Type="http://schemas.openxmlformats.org/officeDocument/2006/relationships/image" Target="/ppt/media/image13.png" Id="R014b3cdc00454f7b" /><Relationship Type="http://schemas.openxmlformats.org/officeDocument/2006/relationships/image" Target="/ppt/media/image13.svg" Id="Rbfefd3419f5f4bd5" /><Relationship Type="http://schemas.openxmlformats.org/officeDocument/2006/relationships/notesSlide" Target="/ppt/notesSlides/notesSlide7.xml" Id="R375a75991db342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e5e05a647a4424" /><Relationship Type="http://schemas.openxmlformats.org/officeDocument/2006/relationships/image" Target="/ppt/media/image22.png" Id="Ra3d3e103026b4dfc" /><Relationship Type="http://schemas.openxmlformats.org/officeDocument/2006/relationships/image" Target="/ppt/media/image19.svg" Id="R691847b8d883435f" /><Relationship Type="http://schemas.openxmlformats.org/officeDocument/2006/relationships/image" Target="/ppt/media/image23.png" Id="R1e16128506a84e6a" /><Relationship Type="http://schemas.openxmlformats.org/officeDocument/2006/relationships/image" Target="/ppt/media/image20.svg" Id="Ra874c69ab91e4a1e" /><Relationship Type="http://schemas.openxmlformats.org/officeDocument/2006/relationships/image" Target="/ppt/media/image24.png" Id="R991d438103754e81" /><Relationship Type="http://schemas.openxmlformats.org/officeDocument/2006/relationships/notesSlide" Target="/ppt/notesSlides/notesSlide8.xml" Id="Rcbe67996d71f46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24ba4b6ee44e78" /><Relationship Type="http://schemas.openxmlformats.org/officeDocument/2006/relationships/image" Target="/ppt/media/image25.png" Id="Redb8430d3b9f40be" /><Relationship Type="http://schemas.openxmlformats.org/officeDocument/2006/relationships/image" Target="/ppt/media/image21.svg" Id="R385035ee29194474" /><Relationship Type="http://schemas.openxmlformats.org/officeDocument/2006/relationships/image" Target="/ppt/media/image22.svg" Id="R305a8f4582af49f3" /><Relationship Type="http://schemas.openxmlformats.org/officeDocument/2006/relationships/image" Target="/ppt/media/image19.png" Id="Ra56c634f76c143ee" /><Relationship Type="http://schemas.openxmlformats.org/officeDocument/2006/relationships/notesSlide" Target="/ppt/notesSlides/notesSlide9.xml" Id="R90adbb4d182e46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0b5cf01da846cc" /><Relationship Type="http://schemas.openxmlformats.org/officeDocument/2006/relationships/image" Target="/ppt/media/image23.svg" Id="R21671b3b61b64b76" /><Relationship Type="http://schemas.openxmlformats.org/officeDocument/2006/relationships/image" Target="/ppt/media/image20.png" Id="R6e66933f7e7e453b" /><Relationship Type="http://schemas.openxmlformats.org/officeDocument/2006/relationships/image" Target="/ppt/media/image24.svg" Id="Ra25a524687074632" /><Relationship Type="http://schemas.openxmlformats.org/officeDocument/2006/relationships/image" Target="/ppt/media/image21.png" Id="Rb99de530d5084bd5" /><Relationship Type="http://schemas.openxmlformats.org/officeDocument/2006/relationships/image" Target="/ppt/media/image26.png" Id="R931ce4ecaf8a4d90" /><Relationship Type="http://schemas.openxmlformats.org/officeDocument/2006/relationships/image" Target="/ppt/media/image25.svg" Id="R777f4e47966f40b9" /><Relationship Type="http://schemas.openxmlformats.org/officeDocument/2006/relationships/image" Target="/ppt/media/image22.png" Id="Rcee73958d28c4b30" /><Relationship Type="http://schemas.openxmlformats.org/officeDocument/2006/relationships/image" Target="/ppt/media/image19.svg" Id="R867f5cce4a544a41" /><Relationship Type="http://schemas.openxmlformats.org/officeDocument/2006/relationships/notesSlide" Target="/ppt/notesSlides/notesSlide10.xml" Id="R1630d513c91b49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668c021a764dea" /><Relationship Type="http://schemas.openxmlformats.org/officeDocument/2006/relationships/image" Target="/ppt/media/image16.png" Id="Rdf1b5a88520a4132" /><Relationship Type="http://schemas.openxmlformats.org/officeDocument/2006/relationships/image" Target="/ppt/media/image16.svg" Id="Rbeaf4f342eb54dc2" /><Relationship Type="http://schemas.openxmlformats.org/officeDocument/2006/relationships/image" Target="/ppt/media/image17.png" Id="Rb322f187baab410b" /><Relationship Type="http://schemas.openxmlformats.org/officeDocument/2006/relationships/image" Target="/ppt/media/image17.svg" Id="Rf786834cc04e4026" /><Relationship Type="http://schemas.openxmlformats.org/officeDocument/2006/relationships/image" Target="/ppt/media/image5.png" Id="R9667442d0e314f0b" /><Relationship Type="http://schemas.openxmlformats.org/officeDocument/2006/relationships/image" Target="/ppt/media/image5.svg" Id="R838f2c1f9eed4850" /><Relationship Type="http://schemas.openxmlformats.org/officeDocument/2006/relationships/notesSlide" Target="/ppt/notesSlides/notesSlide11.xml" Id="R8ba9d71114a248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c55872d1014a46" /><Relationship Type="http://schemas.openxmlformats.org/officeDocument/2006/relationships/image" Target="/ppt/media/image14.png" Id="R5453fddb388d438b" /><Relationship Type="http://schemas.openxmlformats.org/officeDocument/2006/relationships/image" Target="/ppt/media/image14.svg" Id="R9f008fbf399f441e" /><Relationship Type="http://schemas.openxmlformats.org/officeDocument/2006/relationships/image" Target="/ppt/media/image15.png" Id="Rd45e829a70c041d0" /><Relationship Type="http://schemas.openxmlformats.org/officeDocument/2006/relationships/image" Target="/ppt/media/image15.svg" Id="R92ad64e5ebda45a3" /><Relationship Type="http://schemas.openxmlformats.org/officeDocument/2006/relationships/notesSlide" Target="/ppt/notesSlides/notesSlide12.xml" Id="R86b2116bd1584f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kv_mpbil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fad488acc457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73042" y="0"/>
            <a:ext cx="13114958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Rectangle 2406636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4896ee8ca440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95526" y="2824738"/>
            <a:ext cx="9880972" cy="7462262"/>
          </a:xfrm>
          <a:prstGeom xmlns:a="http://schemas.openxmlformats.org/drawingml/2006/main" prst="rect">
            <a:avLst/>
          </a:prstGeom>
        </p:spPr>
      </p:pic>
      <p:pic>
        <p:nvPicPr>
          <p:cNvPr id="3" name="Group 21361399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fad488acc4571">
            <a:extLst>
              <a:ext uri="{96DAC541-7B7A-43D3-8B79-37D633B846F1}">
                <asvg:svgBlip xmlns:asvg="http://schemas.microsoft.com/office/drawing/2016/SVG/main" r:embed="R51a6dd3289db4a6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2950" y="428625"/>
            <a:ext cx="7629525" cy="2714625"/>
          </a:xfrm>
          <a:prstGeom xmlns:a="http://schemas.openxmlformats.org/drawingml/2006/main" prst="rect">
            <a:avLst/>
          </a:prstGeom>
        </p:spPr>
      </p:pic>
      <p:pic>
        <p:nvPicPr>
          <p:cNvPr id="4" name="Grou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4896ee8ca440e">
            <a:extLst>
              <a:ext uri="{96DAC541-7B7A-43D3-8B79-37D633B846F1}">
                <asvg:svgBlip xmlns:asvg="http://schemas.microsoft.com/office/drawing/2016/SVG/main" r:embed="R5343fc0c74864d80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9925" y="428625"/>
            <a:ext cx="2886075" cy="885825"/>
          </a:xfrm>
          <a:prstGeom xmlns:a="http://schemas.openxmlformats.org/drawingml/2006/main" prst="rect">
            <a:avLst/>
          </a:prstGeom>
        </p:spPr>
      </p:pic>
      <p:sp>
        <p:nvSpPr>
          <p:cNvPr id="7" name="Text 0">
            <a:extLst xmlns:a="http://schemas.openxmlformats.org/drawingml/2006/main">
              <a:ext uri="{FF2B5EF4-FFF2-40B4-BE49-F238E27FC236}">
                <a16:creationId xmlns:a16="http://schemas.microsoft.com/office/drawing/2014/main" id="{032A0F5B-9AC7-410E-92D4-A9A003B1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62725"/>
            <a:ext cx="12658725" cy="3257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1425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/>
            </a:r>
          </a:p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1425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Image</a:t>
            </a:r>
          </a:p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1425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Guardrail</a:t>
            </a:r>
          </a:p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1425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банка</a:t>
            </a:r>
          </a:p>
        </p:txBody>
      </p:sp>
    </p:spTree>
    <p:extLst>
      <p:ext uri="{BB962C8B-B14F-4D97-AF65-F5344CB8AC3E}">
        <p14:creationId xmlns:p14="http://schemas.microsoft.com/office/powerpoint/2010/main" val="545846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Rectangle 2406636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f09066aef4329">
            <a:extLst>
              <a:ext uri="{96DAC541-7B7A-43D3-8B79-37D633B846F1}">
                <asvg:svgBlip xmlns:asvg="http://schemas.microsoft.com/office/drawing/2016/SVG/main" r:embed="Rff4140c114644c4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3000375"/>
            <a:ext cx="5305425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Rectangle 2406636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183c232094994">
            <a:extLst>
              <a:ext uri="{96DAC541-7B7A-43D3-8B79-37D633B846F1}">
                <asvg:svgBlip xmlns:asvg="http://schemas.microsoft.com/office/drawing/2016/SVG/main" r:embed="R5e8e40d8accd4f8b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86525" y="3000375"/>
            <a:ext cx="531495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Rectangle 2406636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183c232094994">
            <a:extLst>
              <a:ext uri="{96DAC541-7B7A-43D3-8B79-37D633B846F1}">
                <asvg:svgBlip xmlns:asvg="http://schemas.microsoft.com/office/drawing/2016/SVG/main" r:embed="R5e8e40d8accd4f8b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211050" y="3000375"/>
            <a:ext cx="531495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Group 21361399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6986e7ebe41ec">
            <a:extLst>
              <a:ext uri="{96DAC541-7B7A-43D3-8B79-37D633B846F1}">
                <asvg:svgBlip xmlns:asvg="http://schemas.microsoft.com/office/drawing/2016/SVG/main" r:embed="R211dbedc56044bc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115580" y="428625"/>
            <a:ext cx="2409825" cy="857250"/>
          </a:xfrm>
          <a:prstGeom xmlns:a="http://schemas.openxmlformats.org/drawingml/2006/main" prst="rect">
            <a:avLst/>
          </a:prstGeom>
        </p:spPr>
      </p:pic>
      <p:sp>
        <p:nvSpPr>
          <p:cNvPr id="6" name="name_01">
            <a:extLst xmlns:a="http://schemas.openxmlformats.org/drawingml/2006/main">
              <a:ext uri="{FF2B5EF4-FFF2-40B4-BE49-F238E27FC236}">
                <a16:creationId xmlns:a16="http://schemas.microsoft.com/office/drawing/2014/main" id="{C4A651B6-0AE3-43AE-8CBC-663BE22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142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01</a:t>
            </a:r>
          </a:p>
        </p:txBody>
      </p:sp>
      <p:sp>
        <p:nvSpPr>
          <p:cNvPr id="7" name="name_02">
            <a:extLst xmlns:a="http://schemas.openxmlformats.org/drawingml/2006/main">
              <a:ext uri="{FF2B5EF4-FFF2-40B4-BE49-F238E27FC236}">
                <a16:creationId xmlns:a16="http://schemas.microsoft.com/office/drawing/2014/main" id="{5B83C845-C047-45FF-8F13-98BCDC49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29000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02</a:t>
            </a:r>
          </a:p>
        </p:txBody>
      </p:sp>
      <p:sp>
        <p:nvSpPr>
          <p:cNvPr id="8" name="name_03">
            <a:extLst xmlns:a="http://schemas.openxmlformats.org/drawingml/2006/main">
              <a:ext uri="{FF2B5EF4-FFF2-40B4-BE49-F238E27FC236}">
                <a16:creationId xmlns:a16="http://schemas.microsoft.com/office/drawing/2014/main" id="{50E3A506-5352-472C-B838-9EFFCA6A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429000"/>
            <a:ext cx="1647825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03</a:t>
            </a:r>
          </a:p>
        </p:txBody>
      </p:sp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EABCEFD0-5FA1-47D8-80DE-F6D4ECCE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86600"/>
            <a:ext cx="4552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FFFFFF"/>
                </a:solidFill>
                <a:latin typeface="Styrene A Regular"/>
                <a:ea typeface="Styrene A Regular"/>
                <a:cs typeface="Styrene A Regular"/>
              </a:rPr>
              <a:t>Provider safety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FFFFFF"/>
                </a:solidFill>
                <a:latin typeface="Styrene A Regular"/>
                <a:ea typeface="Styrene A Regular"/>
                <a:cs typeface="Styrene A Regular"/>
              </a:rPr>
              <a:t>может измениться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FFFFFF"/>
                </a:solidFill>
                <a:latin typeface="Styrene A Regular"/>
                <a:ea typeface="Styrene A Regular"/>
                <a:cs typeface="Styrene A Regular"/>
              </a:rPr>
              <a:t>или быть обойден</a:t>
            </a:r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151DE30B-172D-47C9-B884-60A34E76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7086600"/>
            <a:ext cx="4552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Один classifier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не закрывает PII,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fraud и TOCTOU</a:t>
            </a:r>
          </a:p>
        </p:txBody>
      </p:sp>
      <p:sp>
        <p:nvSpPr>
          <p:cNvPr id="11" name="Text 5">
            <a:extLst xmlns:a="http://schemas.openxmlformats.org/drawingml/2006/main">
              <a:ext uri="{FF2B5EF4-FFF2-40B4-BE49-F238E27FC236}">
                <a16:creationId xmlns:a16="http://schemas.microsoft.com/office/drawing/2014/main" id="{42AE8B4B-6667-4043-9CDD-B2324748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7086600"/>
            <a:ext cx="4467225" cy="2171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Prompt-only guard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не проверяет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итоговые пиксели</a:t>
            </a:r>
          </a:p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7BD68992-4E88-40F4-B709-EB106A65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10391775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600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Почему встроенных</a:t>
            </a:r>
          </a:p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600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фильтров недостаточно</a:t>
            </a:r>
          </a:p>
        </p:txBody>
      </p:sp>
    </p:spTree>
    <p:extLst>
      <p:ext uri="{BB962C8B-B14F-4D97-AF65-F5344CB8AC3E}">
        <p14:creationId xmlns:p14="http://schemas.microsoft.com/office/powerpoint/2010/main" val="159915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3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oup 21361399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34fa9247e44e0">
            <a:extLst>
              <a:ext uri="{96DAC541-7B7A-43D3-8B79-37D633B846F1}">
                <asvg:svgBlip xmlns:asvg="http://schemas.microsoft.com/office/drawing/2016/SVG/main" r:embed="R3abb85e78d4a43c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115580" y="428625"/>
            <a:ext cx="2409825" cy="857250"/>
          </a:xfrm>
          <a:prstGeom xmlns:a="http://schemas.openxmlformats.org/drawingml/2006/main" prst="rect">
            <a:avLst/>
          </a:prstGeom>
        </p:spPr>
      </p:pic>
      <p:pic>
        <p:nvPicPr>
          <p:cNvPr id="2" name="Rectangle 2406636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16e56675a45d7">
            <a:extLst>
              <a:ext uri="{96DAC541-7B7A-43D3-8B79-37D633B846F1}">
                <asvg:svgBlip xmlns:asvg="http://schemas.microsoft.com/office/drawing/2016/SVG/main" r:embed="Rfeec7fcff13c4e5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2143125"/>
            <a:ext cx="5305425" cy="3638550"/>
          </a:xfrm>
          <a:prstGeom xmlns:a="http://schemas.openxmlformats.org/drawingml/2006/main" prst="rect">
            <a:avLst/>
          </a:prstGeom>
        </p:spPr>
      </p:pic>
      <p:pic>
        <p:nvPicPr>
          <p:cNvPr id="3" name="Rectangle 2406636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16e56675a45d7">
            <a:extLst>
              <a:ext uri="{96DAC541-7B7A-43D3-8B79-37D633B846F1}">
                <asvg:svgBlip xmlns:asvg="http://schemas.microsoft.com/office/drawing/2016/SVG/main" r:embed="Rfeec7fcff13c4e5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86525" y="2143125"/>
            <a:ext cx="5305425" cy="3638550"/>
          </a:xfrm>
          <a:prstGeom xmlns:a="http://schemas.openxmlformats.org/drawingml/2006/main" prst="rect">
            <a:avLst/>
          </a:prstGeom>
        </p:spPr>
      </p:pic>
      <p:pic>
        <p:nvPicPr>
          <p:cNvPr id="4" name="Rectangle 2406636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16e56675a45d7">
            <a:extLst>
              <a:ext uri="{96DAC541-7B7A-43D3-8B79-37D633B846F1}">
                <asvg:svgBlip xmlns:asvg="http://schemas.microsoft.com/office/drawing/2016/SVG/main" r:embed="Rfeec7fcff13c4e5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211050" y="2143125"/>
            <a:ext cx="5305425" cy="3638550"/>
          </a:xfrm>
          <a:prstGeom xmlns:a="http://schemas.openxmlformats.org/drawingml/2006/main" prst="rect">
            <a:avLst/>
          </a:prstGeom>
        </p:spPr>
      </p:pic>
      <p:pic>
        <p:nvPicPr>
          <p:cNvPr id="5" name="Rectangle 2406636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16e56675a45d7">
            <a:extLst>
              <a:ext uri="{96DAC541-7B7A-43D3-8B79-37D633B846F1}">
                <asvg:svgBlip xmlns:asvg="http://schemas.microsoft.com/office/drawing/2016/SVG/main" r:embed="Rfeec7fcff13c4e5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6219825"/>
            <a:ext cx="5305425" cy="3638550"/>
          </a:xfrm>
          <a:prstGeom xmlns:a="http://schemas.openxmlformats.org/drawingml/2006/main" prst="rect">
            <a:avLst/>
          </a:prstGeom>
        </p:spPr>
      </p:pic>
      <p:pic>
        <p:nvPicPr>
          <p:cNvPr id="6" name="Rectangle 2406636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16e56675a45d7">
            <a:extLst>
              <a:ext uri="{96DAC541-7B7A-43D3-8B79-37D633B846F1}">
                <asvg:svgBlip xmlns:asvg="http://schemas.microsoft.com/office/drawing/2016/SVG/main" r:embed="Rfeec7fcff13c4e5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86525" y="6219825"/>
            <a:ext cx="5305425" cy="3638550"/>
          </a:xfrm>
          <a:prstGeom xmlns:a="http://schemas.openxmlformats.org/drawingml/2006/main" prst="rect">
            <a:avLst/>
          </a:prstGeom>
        </p:spPr>
      </p:pic>
      <p:pic>
        <p:nvPicPr>
          <p:cNvPr id="7" name="Rectangle 2406636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16e56675a45d7">
            <a:extLst>
              <a:ext uri="{96DAC541-7B7A-43D3-8B79-37D633B846F1}">
                <asvg:svgBlip xmlns:asvg="http://schemas.microsoft.com/office/drawing/2016/SVG/main" r:embed="Rfeec7fcff13c4e5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211050" y="6219825"/>
            <a:ext cx="5305425" cy="3638550"/>
          </a:xfrm>
          <a:prstGeom xmlns:a="http://schemas.openxmlformats.org/drawingml/2006/main" prst="rect">
            <a:avLst/>
          </a:prstGeom>
        </p:spPr>
      </p:pic>
      <p:pic>
        <p:nvPicPr>
          <p:cNvPr id="8" name="_Слой_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6e883e8314f7d">
            <a:extLst>
              <a:ext uri="{96DAC541-7B7A-43D3-8B79-37D633B846F1}">
                <asvg:svgBlip xmlns:asvg="http://schemas.microsoft.com/office/drawing/2016/SVG/main" r:embed="R9941dff899bd4b9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630150" y="6619875"/>
            <a:ext cx="1047750" cy="1114425"/>
          </a:xfrm>
          <a:prstGeom xmlns:a="http://schemas.openxmlformats.org/drawingml/2006/main" prst="rect">
            <a:avLst/>
          </a:prstGeom>
        </p:spPr>
      </p:pic>
      <p:pic>
        <p:nvPicPr>
          <p:cNvPr id="9" name="Vec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ae24a65e2480f">
            <a:extLst>
              <a:ext uri="{96DAC541-7B7A-43D3-8B79-37D633B846F1}">
                <asvg:svgBlip xmlns:asvg="http://schemas.microsoft.com/office/drawing/2016/SVG/main" r:embed="Re772c14409b84d9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81100" y="2571750"/>
            <a:ext cx="1095375" cy="1114425"/>
          </a:xfrm>
          <a:prstGeom xmlns:a="http://schemas.openxmlformats.org/drawingml/2006/main" prst="rect">
            <a:avLst/>
          </a:prstGeom>
        </p:spPr>
      </p:pic>
      <p:pic>
        <p:nvPicPr>
          <p:cNvPr id="10" name="Vec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6e4b1cf4b4e29">
            <a:extLst>
              <a:ext uri="{96DAC541-7B7A-43D3-8B79-37D633B846F1}">
                <asvg:svgBlip xmlns:asvg="http://schemas.microsoft.com/office/drawing/2016/SVG/main" r:embed="R4d032eeb72eb4bb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05625" y="2571750"/>
            <a:ext cx="1028700" cy="1114425"/>
          </a:xfrm>
          <a:prstGeom xmlns:a="http://schemas.openxmlformats.org/drawingml/2006/main" prst="rect">
            <a:avLst/>
          </a:prstGeom>
        </p:spPr>
      </p:pic>
      <p:pic>
        <p:nvPicPr>
          <p:cNvPr id="11" name="Vec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3501c56c248a8">
            <a:extLst>
              <a:ext uri="{96DAC541-7B7A-43D3-8B79-37D633B846F1}">
                <asvg:svgBlip xmlns:asvg="http://schemas.microsoft.com/office/drawing/2016/SVG/main" r:embed="Rcb86f53aa0544874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630150" y="2571750"/>
            <a:ext cx="1066800" cy="1095375"/>
          </a:xfrm>
          <a:prstGeom xmlns:a="http://schemas.openxmlformats.org/drawingml/2006/main" prst="rect">
            <a:avLst/>
          </a:prstGeom>
        </p:spPr>
      </p:pic>
      <p:pic>
        <p:nvPicPr>
          <p:cNvPr id="12" name="Vec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e0269522749bd">
            <a:extLst>
              <a:ext uri="{96DAC541-7B7A-43D3-8B79-37D633B846F1}">
                <asvg:svgBlip xmlns:asvg="http://schemas.microsoft.com/office/drawing/2016/SVG/main" r:embed="R1379b7950ee847a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81100" y="6619875"/>
            <a:ext cx="1076325" cy="1095375"/>
          </a:xfrm>
          <a:prstGeom xmlns:a="http://schemas.openxmlformats.org/drawingml/2006/main" prst="rect">
            <a:avLst/>
          </a:prstGeom>
        </p:spPr>
      </p:pic>
      <p:pic>
        <p:nvPicPr>
          <p:cNvPr id="13" name="_Слой_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18800c75a4c94">
            <a:extLst>
              <a:ext uri="{96DAC541-7B7A-43D3-8B79-37D633B846F1}">
                <asvg:svgBlip xmlns:asvg="http://schemas.microsoft.com/office/drawing/2016/SVG/main" r:embed="R9fff37588486454d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05625" y="6619875"/>
            <a:ext cx="1047750" cy="1114425"/>
          </a:xfrm>
          <a:prstGeom xmlns:a="http://schemas.openxmlformats.org/drawingml/2006/main" prst="rect">
            <a:avLst/>
          </a:prstGeom>
        </p:spPr>
      </p:pic>
      <p:sp>
        <p:nvSpPr>
          <p:cNvPr id="15" name="Text 0">
            <a:extLst xmlns:a="http://schemas.openxmlformats.org/drawingml/2006/main">
              <a:ext uri="{FF2B5EF4-FFF2-40B4-BE49-F238E27FC236}">
                <a16:creationId xmlns:a16="http://schemas.microsoft.com/office/drawing/2014/main" id="{1479FFAD-C93E-4FC3-B1E0-7D336789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1037272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600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Модель угроз: 6 путей обхода</a:t>
            </a:r>
          </a:p>
        </p:txBody>
      </p:sp>
      <p:sp>
        <p:nvSpPr>
          <p:cNvPr id="16" name="Text 1">
            <a:extLst xmlns:a="http://schemas.openxmlformats.org/drawingml/2006/main">
              <a:ext uri="{FF2B5EF4-FFF2-40B4-BE49-F238E27FC236}">
                <a16:creationId xmlns:a16="http://schemas.microsoft.com/office/drawing/2014/main" id="{D76E9A97-03A0-4A19-B6BB-BB087E5F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71975"/>
            <a:ext cx="4552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Prompt bypass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Unicode • jailbreak</a:t>
            </a:r>
          </a:p>
        </p:txBody>
      </p:sp>
      <p:sp>
        <p:nvSpPr>
          <p:cNvPr id="17" name="Text 2">
            <a:extLst xmlns:a="http://schemas.openxmlformats.org/drawingml/2006/main">
              <a:ext uri="{FF2B5EF4-FFF2-40B4-BE49-F238E27FC236}">
                <a16:creationId xmlns:a16="http://schemas.microsoft.com/office/drawing/2014/main" id="{1475371D-F147-466A-B885-7826182F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448675"/>
            <a:ext cx="4552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PII exposure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паспорт • карта</a:t>
            </a:r>
          </a:p>
        </p:txBody>
      </p:sp>
      <p:sp>
        <p:nvSpPr>
          <p:cNvPr id="18" name="Text 3">
            <a:extLst xmlns:a="http://schemas.openxmlformats.org/drawingml/2006/main">
              <a:ext uri="{FF2B5EF4-FFF2-40B4-BE49-F238E27FC236}">
                <a16:creationId xmlns:a16="http://schemas.microsoft.com/office/drawing/2014/main" id="{2F1691E0-6336-482E-9EEF-8D4ADABF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371975"/>
            <a:ext cx="4552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Unsafe output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provider blind spot</a:t>
            </a:r>
          </a:p>
        </p:txBody>
      </p:sp>
      <p:sp>
        <p:nvSpPr>
          <p:cNvPr id="19" name="Text 4">
            <a:extLst xmlns:a="http://schemas.openxmlformats.org/drawingml/2006/main">
              <a:ext uri="{FF2B5EF4-FFF2-40B4-BE49-F238E27FC236}">
                <a16:creationId xmlns:a16="http://schemas.microsoft.com/office/drawing/2014/main" id="{C1BA791C-146B-4F3D-A5BA-514F702F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448675"/>
            <a:ext cx="4552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Fraud generation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фишинг • документы</a:t>
            </a:r>
          </a:p>
        </p:txBody>
      </p:sp>
      <p:sp>
        <p:nvSpPr>
          <p:cNvPr id="20" name="Text 5">
            <a:extLst xmlns:a="http://schemas.openxmlformats.org/drawingml/2006/main">
              <a:ext uri="{FF2B5EF4-FFF2-40B4-BE49-F238E27FC236}">
                <a16:creationId xmlns:a16="http://schemas.microsoft.com/office/drawing/2014/main" id="{967F3061-A048-4BFC-B70B-F53DC165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71975"/>
            <a:ext cx="4552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TOCTOU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подмена после проверки</a:t>
            </a:r>
          </a:p>
        </p:txBody>
      </p:sp>
      <p:sp>
        <p:nvSpPr>
          <p:cNvPr id="21" name="Text 6">
            <a:extLst xmlns:a="http://schemas.openxmlformats.org/drawingml/2006/main">
              <a:ext uri="{FF2B5EF4-FFF2-40B4-BE49-F238E27FC236}">
                <a16:creationId xmlns:a16="http://schemas.microsoft.com/office/drawing/2014/main" id="{58F1C44C-EDD9-4BE9-A1CA-C849A55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8448675"/>
            <a:ext cx="4552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Fail-open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выдача при сбое</a:t>
            </a:r>
          </a:p>
        </p:txBody>
      </p:sp>
    </p:spTree>
    <p:extLst>
      <p:ext uri="{BB962C8B-B14F-4D97-AF65-F5344CB8AC3E}">
        <p14:creationId xmlns:p14="http://schemas.microsoft.com/office/powerpoint/2010/main" val="680639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3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oup 21361399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916de97a04eea">
            <a:extLst>
              <a:ext uri="{96DAC541-7B7A-43D3-8B79-37D633B846F1}">
                <asvg:svgBlip xmlns:asvg="http://schemas.microsoft.com/office/drawing/2016/SVG/main" r:embed="Re176343fbae64e2b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115580" y="428625"/>
            <a:ext cx="2409825" cy="857250"/>
          </a:xfrm>
          <a:prstGeom xmlns:a="http://schemas.openxmlformats.org/drawingml/2006/main" prst="rect">
            <a:avLst/>
          </a:prstGeom>
        </p:spPr>
      </p:pic>
      <p:pic>
        <p:nvPicPr>
          <p:cNvPr id="2" name="stick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6fed4a34b49a8">
            <a:extLst>
              <a:ext uri="{96DAC541-7B7A-43D3-8B79-37D633B846F1}">
                <asvg:svgBlip xmlns:asvg="http://schemas.microsoft.com/office/drawing/2016/SVG/main" r:embed="R0c7fad4f4dcb4b9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857250"/>
            <a:ext cx="1409700" cy="542925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C8FF7C9-9E8C-4914-908F-5792B4B7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16888504" cy="495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Не еще один классификатор.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Независимый контур допуска.</a:t>
            </a:r>
          </a:p>
        </p:txBody>
      </p:sp>
      <p:sp>
        <p:nvSpPr>
          <p:cNvPr id="5" name="default_name">
            <a:extLst xmlns:a="http://schemas.openxmlformats.org/drawingml/2006/main">
              <a:ext uri="{FF2B5EF4-FFF2-40B4-BE49-F238E27FC236}">
                <a16:creationId xmlns:a16="http://schemas.microsoft.com/office/drawing/2014/main" id="{D13C3537-FB8D-410A-933C-42A04568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014024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sz="240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ИДЕЯ</a:t>
            </a:r>
          </a:p>
        </p:txBody>
      </p:sp>
    </p:spTree>
    <p:extLst>
      <p:ext uri="{BB962C8B-B14F-4D97-AF65-F5344CB8AC3E}">
        <p14:creationId xmlns:p14="http://schemas.microsoft.com/office/powerpoint/2010/main" val="13865747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Rectangle 2406636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a76e94df14850">
            <a:extLst>
              <a:ext uri="{96DAC541-7B7A-43D3-8B79-37D633B846F1}">
                <asvg:svgBlip xmlns:asvg="http://schemas.microsoft.com/office/drawing/2016/SVG/main" r:embed="R8a911b8bf895456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2143125"/>
            <a:ext cx="8172450" cy="3638550"/>
          </a:xfrm>
          <a:prstGeom xmlns:a="http://schemas.openxmlformats.org/drawingml/2006/main" prst="rect">
            <a:avLst/>
          </a:prstGeom>
        </p:spPr>
      </p:pic>
      <p:pic>
        <p:nvPicPr>
          <p:cNvPr id="2" name="Rectangle 2406636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9b4e583794695">
            <a:extLst>
              <a:ext uri="{96DAC541-7B7A-43D3-8B79-37D633B846F1}">
                <asvg:svgBlip xmlns:asvg="http://schemas.microsoft.com/office/drawing/2016/SVG/main" r:embed="R2de7d9acd7544f3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6219825"/>
            <a:ext cx="8172450" cy="3638550"/>
          </a:xfrm>
          <a:prstGeom xmlns:a="http://schemas.openxmlformats.org/drawingml/2006/main" prst="rect">
            <a:avLst/>
          </a:prstGeom>
        </p:spPr>
      </p:pic>
      <p:pic>
        <p:nvPicPr>
          <p:cNvPr id="3" name="Rectangle 2406636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9b4e583794695">
            <a:extLst>
              <a:ext uri="{96DAC541-7B7A-43D3-8B79-37D633B846F1}">
                <asvg:svgBlip xmlns:asvg="http://schemas.microsoft.com/office/drawing/2016/SVG/main" r:embed="R2de7d9acd7544f3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53550" y="2143125"/>
            <a:ext cx="8172450" cy="3638550"/>
          </a:xfrm>
          <a:prstGeom xmlns:a="http://schemas.openxmlformats.org/drawingml/2006/main" prst="rect">
            <a:avLst/>
          </a:prstGeom>
        </p:spPr>
      </p:pic>
      <p:pic>
        <p:nvPicPr>
          <p:cNvPr id="4" name="Rectangle 2406636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9b4e583794695">
            <a:extLst>
              <a:ext uri="{96DAC541-7B7A-43D3-8B79-37D633B846F1}">
                <asvg:svgBlip xmlns:asvg="http://schemas.microsoft.com/office/drawing/2016/SVG/main" r:embed="R2de7d9acd7544f3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53550" y="6219825"/>
            <a:ext cx="8172450" cy="3638550"/>
          </a:xfrm>
          <a:prstGeom xmlns:a="http://schemas.openxmlformats.org/drawingml/2006/main" prst="rect">
            <a:avLst/>
          </a:prstGeom>
        </p:spPr>
      </p:pic>
      <p:pic>
        <p:nvPicPr>
          <p:cNvPr id="5" name="Group 21361399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c4de80a524651">
            <a:extLst>
              <a:ext uri="{96DAC541-7B7A-43D3-8B79-37D633B846F1}">
                <asvg:svgBlip xmlns:asvg="http://schemas.microsoft.com/office/drawing/2016/SVG/main" r:embed="R97d0059744704f6b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115580" y="428625"/>
            <a:ext cx="2409825" cy="857250"/>
          </a:xfrm>
          <a:prstGeom xmlns:a="http://schemas.openxmlformats.org/drawingml/2006/main" prst="rect">
            <a:avLst/>
          </a:prstGeom>
        </p:spPr>
      </p:pic>
      <p:sp>
        <p:nvSpPr>
          <p:cNvPr id="7" name="name_01">
            <a:extLst xmlns:a="http://schemas.openxmlformats.org/drawingml/2006/main">
              <a:ext uri="{FF2B5EF4-FFF2-40B4-BE49-F238E27FC236}">
                <a16:creationId xmlns:a16="http://schemas.microsoft.com/office/drawing/2014/main" id="{C5A9791B-798F-41D2-86AF-79E0FF9D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43175"/>
            <a:ext cx="142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01</a:t>
            </a:r>
          </a:p>
        </p:txBody>
      </p:sp>
      <p:sp>
        <p:nvSpPr>
          <p:cNvPr id="8" name="name_03">
            <a:extLst xmlns:a="http://schemas.openxmlformats.org/drawingml/2006/main">
              <a:ext uri="{FF2B5EF4-FFF2-40B4-BE49-F238E27FC236}">
                <a16:creationId xmlns:a16="http://schemas.microsoft.com/office/drawing/2014/main" id="{3DA18D8C-7192-4472-84A3-5099FCDA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619875"/>
            <a:ext cx="1647825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03</a:t>
            </a:r>
          </a:p>
        </p:txBody>
      </p:sp>
      <p:sp>
        <p:nvSpPr>
          <p:cNvPr id="9" name="name_02">
            <a:extLst xmlns:a="http://schemas.openxmlformats.org/drawingml/2006/main">
              <a:ext uri="{FF2B5EF4-FFF2-40B4-BE49-F238E27FC236}">
                <a16:creationId xmlns:a16="http://schemas.microsoft.com/office/drawing/2014/main" id="{BE4E065B-CC98-494A-8153-6AB04692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43175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02</a:t>
            </a:r>
          </a:p>
        </p:txBody>
      </p:sp>
      <p:sp>
        <p:nvSpPr>
          <p:cNvPr id="10" name="name_04">
            <a:extLst xmlns:a="http://schemas.openxmlformats.org/drawingml/2006/main">
              <a:ext uri="{FF2B5EF4-FFF2-40B4-BE49-F238E27FC236}">
                <a16:creationId xmlns:a16="http://schemas.microsoft.com/office/drawing/2014/main" id="{459DF606-55A3-44BA-B156-F5736C8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619875"/>
            <a:ext cx="1743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04</a:t>
            </a:r>
          </a:p>
        </p:txBody>
      </p:sp>
      <p:sp>
        <p:nvSpPr>
          <p:cNvPr id="11" name="Text 4">
            <a:extLst xmlns:a="http://schemas.openxmlformats.org/drawingml/2006/main">
              <a:ext uri="{FF2B5EF4-FFF2-40B4-BE49-F238E27FC236}">
                <a16:creationId xmlns:a16="http://schemas.microsoft.com/office/drawing/2014/main" id="{3AA71FC3-7CDA-4EBE-94C1-903266D9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1037272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600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Архитектура допуска</a:t>
            </a:r>
          </a:p>
        </p:txBody>
      </p:sp>
      <p:sp>
        <p:nvSpPr>
          <p:cNvPr id="12" name="Text 5">
            <a:extLst xmlns:a="http://schemas.openxmlformats.org/drawingml/2006/main">
              <a:ext uri="{FF2B5EF4-FFF2-40B4-BE49-F238E27FC236}">
                <a16:creationId xmlns:a16="http://schemas.microsoft.com/office/drawing/2014/main" id="{F2BECED3-5B33-4868-9E3F-5683BB1C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5962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FFFFFF"/>
                </a:solidFill>
                <a:latin typeface="Styrene A Regular"/>
                <a:ea typeface="Styrene A Regular"/>
                <a:cs typeface="Styrene A Regular"/>
              </a:rPr>
              <a:t>INPUT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FFFFFF"/>
                </a:solidFill>
                <a:latin typeface="Styrene A Regular"/>
                <a:ea typeface="Styrene A Regular"/>
                <a:cs typeface="Styrene A Regular"/>
              </a:rPr>
              <a:t>Prompt • MIME • PII</a:t>
            </a:r>
          </a:p>
        </p:txBody>
      </p:sp>
      <p:sp>
        <p:nvSpPr>
          <p:cNvPr id="13" name="Text 6">
            <a:extLst xmlns:a="http://schemas.openxmlformats.org/drawingml/2006/main">
              <a:ext uri="{FF2B5EF4-FFF2-40B4-BE49-F238E27FC236}">
                <a16:creationId xmlns:a16="http://schemas.microsoft.com/office/drawing/2014/main" id="{AB1C4B9D-7A67-48A3-AEF5-9CEC8C7D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62950"/>
            <a:ext cx="5962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QUARANTINE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непроверенные байты</a:t>
            </a:r>
          </a:p>
        </p:txBody>
      </p:sp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5551DBD5-715C-4BB9-9725-16257168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362950"/>
            <a:ext cx="6867525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DECISION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Output Guard • Policy</a:t>
            </a:r>
          </a:p>
        </p:txBody>
      </p:sp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FF9BF813-04D0-406F-897B-A8FA7F3C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86250"/>
            <a:ext cx="6867525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RELEASE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Passport • Download</a:t>
            </a:r>
          </a:p>
        </p:txBody>
      </p:sp>
    </p:spTree>
    <p:extLst>
      <p:ext uri="{BB962C8B-B14F-4D97-AF65-F5344CB8AC3E}">
        <p14:creationId xmlns:p14="http://schemas.microsoft.com/office/powerpoint/2010/main" val="2927414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oup 21361399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5b5f4e1674632">
            <a:extLst>
              <a:ext uri="{96DAC541-7B7A-43D3-8B79-37D633B846F1}">
                <asvg:svgBlip xmlns:asvg="http://schemas.microsoft.com/office/drawing/2016/SVG/main" r:embed="R3a2098760b474bf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115580" y="428625"/>
            <a:ext cx="2409825" cy="857250"/>
          </a:xfrm>
          <a:prstGeom xmlns:a="http://schemas.openxmlformats.org/drawingml/2006/main" prst="rect">
            <a:avLst/>
          </a:prstGeom>
        </p:spPr>
      </p:pic>
      <p:pic>
        <p:nvPicPr>
          <p:cNvPr id="2" name="Rectangle 2406636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8ee4fb83b4158">
            <a:extLst>
              <a:ext uri="{96DAC541-7B7A-43D3-8B79-37D633B846F1}">
                <asvg:svgBlip xmlns:asvg="http://schemas.microsoft.com/office/drawing/2016/SVG/main" r:embed="R2dc9b7d469374cb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3000375"/>
            <a:ext cx="5314950" cy="6429375"/>
          </a:xfrm>
          <a:prstGeom xmlns:a="http://schemas.openxmlformats.org/drawingml/2006/main" prst="rect">
            <a:avLst/>
          </a:prstGeom>
        </p:spPr>
      </p:pic>
      <p:pic>
        <p:nvPicPr>
          <p:cNvPr id="3" name="Rectangle 2406636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8ee4fb83b4158">
            <a:extLst>
              <a:ext uri="{96DAC541-7B7A-43D3-8B79-37D633B846F1}">
                <asvg:svgBlip xmlns:asvg="http://schemas.microsoft.com/office/drawing/2016/SVG/main" r:embed="R2dc9b7d469374cb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86525" y="3000375"/>
            <a:ext cx="5314950" cy="6429375"/>
          </a:xfrm>
          <a:prstGeom xmlns:a="http://schemas.openxmlformats.org/drawingml/2006/main" prst="rect">
            <a:avLst/>
          </a:prstGeom>
        </p:spPr>
      </p:pic>
      <p:pic>
        <p:nvPicPr>
          <p:cNvPr id="4" name="Rectangle 2406636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8ee4fb83b4158">
            <a:extLst>
              <a:ext uri="{96DAC541-7B7A-43D3-8B79-37D633B846F1}">
                <asvg:svgBlip xmlns:asvg="http://schemas.microsoft.com/office/drawing/2016/SVG/main" r:embed="R2dc9b7d469374cb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211050" y="3000375"/>
            <a:ext cx="5314950" cy="6429375"/>
          </a:xfrm>
          <a:prstGeom xmlns:a="http://schemas.openxmlformats.org/drawingml/2006/main" prst="rect">
            <a:avLst/>
          </a:prstGeom>
        </p:spPr>
      </p:pic>
      <p:pic>
        <p:nvPicPr>
          <p:cNvPr id="5" name="stick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480f5f0084a7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43000" y="3352800"/>
            <a:ext cx="704850" cy="523875"/>
          </a:xfrm>
          <a:prstGeom xmlns:a="http://schemas.openxmlformats.org/drawingml/2006/main" prst="rect">
            <a:avLst/>
          </a:prstGeom>
        </p:spPr>
      </p:pic>
      <p:pic>
        <p:nvPicPr>
          <p:cNvPr id="6" name="stick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60e2b296c47b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67525" y="3352800"/>
            <a:ext cx="704850" cy="523875"/>
          </a:xfrm>
          <a:prstGeom xmlns:a="http://schemas.openxmlformats.org/drawingml/2006/main" prst="rect">
            <a:avLst/>
          </a:prstGeom>
        </p:spPr>
      </p:pic>
      <p:pic>
        <p:nvPicPr>
          <p:cNvPr id="7" name="stick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72ea164504bf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592050" y="3352800"/>
            <a:ext cx="704850" cy="523875"/>
          </a:xfrm>
          <a:prstGeom xmlns:a="http://schemas.openxmlformats.org/drawingml/2006/main" prst="rect">
            <a:avLst/>
          </a:prstGeom>
        </p:spPr>
      </p:pic>
      <p:sp>
        <p:nvSpPr>
          <p:cNvPr id="9" name="Text 0">
            <a:extLst xmlns:a="http://schemas.openxmlformats.org/drawingml/2006/main">
              <a:ext uri="{FF2B5EF4-FFF2-40B4-BE49-F238E27FC236}">
                <a16:creationId xmlns:a16="http://schemas.microsoft.com/office/drawing/2014/main" id="{444107E0-1B70-4403-99C1-0CF20F80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10372725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600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MLSecOps,</a:t>
            </a:r>
          </a:p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600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а не classifier</a:t>
            </a:r>
          </a:p>
        </p:txBody>
      </p:sp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0DE51DED-BAC0-4635-972C-F7D4F9B9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9102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spcAft>
                <a:spcPts val="1800"/>
              </a:spcAft>
              <a:buNone/>
            </a:pPr>
            <a:r>
              <a:rPr sz="375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PREVENT</a:t>
            </a:r>
          </a:p>
        </p:txBody>
      </p:sp>
      <p:sp>
        <p:nvSpPr>
          <p:cNvPr id="11" name="Text 2">
            <a:extLst xmlns:a="http://schemas.openxmlformats.org/drawingml/2006/main">
              <a:ext uri="{FF2B5EF4-FFF2-40B4-BE49-F238E27FC236}">
                <a16:creationId xmlns:a16="http://schemas.microsoft.com/office/drawing/2014/main" id="{205DBF1D-B4CE-43E4-B6F1-F33C9759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05400"/>
            <a:ext cx="4638675" cy="2000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2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Prompt и input checks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2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PII до provider</a:t>
            </a:r>
          </a:p>
        </p:txBody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563773D1-C11E-4164-A7E8-92E14BAC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391400"/>
            <a:ext cx="4676775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2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Нормализация • MIME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2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metadata stripping</a:t>
            </a:r>
          </a:p>
        </p:txBody>
      </p:sp>
      <p:sp>
        <p:nvSpPr>
          <p:cNvPr id="13" name="default_name">
            <a:extLst xmlns:a="http://schemas.openxmlformats.org/drawingml/2006/main">
              <a:ext uri="{FF2B5EF4-FFF2-40B4-BE49-F238E27FC236}">
                <a16:creationId xmlns:a16="http://schemas.microsoft.com/office/drawing/2014/main" id="{0B3AF739-49E4-4BEE-9829-AACABF40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39102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spcAft>
                <a:spcPts val="1800"/>
              </a:spcAft>
              <a:buNone/>
            </a:pPr>
            <a:r>
              <a:rPr sz="375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ENFORCE</a:t>
            </a:r>
          </a:p>
        </p:txBody>
      </p:sp>
      <p:sp>
        <p:nvSpPr>
          <p:cNvPr id="14" name="Text 5">
            <a:extLst xmlns:a="http://schemas.openxmlformats.org/drawingml/2006/main">
              <a:ext uri="{FF2B5EF4-FFF2-40B4-BE49-F238E27FC236}">
                <a16:creationId xmlns:a16="http://schemas.microsoft.com/office/drawing/2014/main" id="{2E72D480-4DF1-49D7-B16D-582D39CB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105400"/>
            <a:ext cx="4638675" cy="2000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2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Mandatory checks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2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Quarantine → Release</a:t>
            </a:r>
          </a:p>
        </p:txBody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AD83CEEB-69C1-47CC-AA61-95966198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7391400"/>
            <a:ext cx="4676775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2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Fail closed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2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ALLOW / REVIEW / BLOCK</a:t>
            </a:r>
          </a:p>
        </p:txBody>
      </p:sp>
      <p:sp>
        <p:nvSpPr>
          <p:cNvPr id="16" name="default_name">
            <a:extLst xmlns:a="http://schemas.openxmlformats.org/drawingml/2006/main">
              <a:ext uri="{FF2B5EF4-FFF2-40B4-BE49-F238E27FC236}">
                <a16:creationId xmlns:a16="http://schemas.microsoft.com/office/drawing/2014/main" id="{421659CD-5B0B-4110-8327-012B2E7E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39102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spcAft>
                <a:spcPts val="1800"/>
              </a:spcAft>
              <a:buNone/>
            </a:pPr>
            <a:r>
              <a:rPr sz="375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PROVE</a:t>
            </a:r>
          </a:p>
        </p:txBody>
      </p:sp>
      <p:sp>
        <p:nvSpPr>
          <p:cNvPr id="17" name="Text 8">
            <a:extLst xmlns:a="http://schemas.openxmlformats.org/drawingml/2006/main">
              <a:ext uri="{FF2B5EF4-FFF2-40B4-BE49-F238E27FC236}">
                <a16:creationId xmlns:a16="http://schemas.microsoft.com/office/drawing/2014/main" id="{F4C8E7CC-5051-4657-85BD-070BC58B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105400"/>
            <a:ext cx="4638675" cy="2000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2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SHA-256 + HMAC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2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Audit before release</a:t>
            </a:r>
          </a:p>
        </p:txBody>
      </p:sp>
      <p:sp>
        <p:nvSpPr>
          <p:cNvPr id="18" name="Text 9">
            <a:extLst xmlns:a="http://schemas.openxmlformats.org/drawingml/2006/main">
              <a:ext uri="{FF2B5EF4-FFF2-40B4-BE49-F238E27FC236}">
                <a16:creationId xmlns:a16="http://schemas.microsoft.com/office/drawing/2014/main" id="{1E078A1E-E35E-4263-AB7E-B4A77B2B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391400"/>
            <a:ext cx="4676775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2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Verified download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2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artifact binding</a:t>
            </a:r>
          </a:p>
        </p:txBody>
      </p:sp>
      <p:sp>
        <p:nvSpPr>
          <p:cNvPr id="19" name="default_name">
            <a:extLst xmlns:a="http://schemas.openxmlformats.org/drawingml/2006/main">
              <a:ext uri="{FF2B5EF4-FFF2-40B4-BE49-F238E27FC236}">
                <a16:creationId xmlns:a16="http://schemas.microsoft.com/office/drawing/2014/main" id="{87E853AD-E849-4538-B4DB-FBC63831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81388"/>
            <a:ext cx="390525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sz="2400" b="1" spc="-150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01</a:t>
            </a:r>
          </a:p>
        </p:txBody>
      </p:sp>
      <p:sp>
        <p:nvSpPr>
          <p:cNvPr id="20" name="default_name">
            <a:extLst xmlns:a="http://schemas.openxmlformats.org/drawingml/2006/main">
              <a:ext uri="{FF2B5EF4-FFF2-40B4-BE49-F238E27FC236}">
                <a16:creationId xmlns:a16="http://schemas.microsoft.com/office/drawing/2014/main" id="{01F1BA66-1A66-4164-9B48-5740CBDE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81388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sz="2400" b="1" spc="-150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02</a:t>
            </a:r>
          </a:p>
        </p:txBody>
      </p:sp>
      <p:sp>
        <p:nvSpPr>
          <p:cNvPr id="21" name="default_name">
            <a:extLst xmlns:a="http://schemas.openxmlformats.org/drawingml/2006/main">
              <a:ext uri="{FF2B5EF4-FFF2-40B4-BE49-F238E27FC236}">
                <a16:creationId xmlns:a16="http://schemas.microsoft.com/office/drawing/2014/main" id="{5933A7B3-1670-45A7-AC84-95C4622C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481388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sz="2400" b="1" spc="-150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91766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3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oup 21361399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1532b955442a0">
            <a:extLst>
              <a:ext uri="{96DAC541-7B7A-43D3-8B79-37D633B846F1}">
                <asvg:svgBlip xmlns:asvg="http://schemas.microsoft.com/office/drawing/2016/SVG/main" r:embed="R1992a4b34abe4f8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115580" y="428625"/>
            <a:ext cx="2409825" cy="857250"/>
          </a:xfrm>
          <a:prstGeom xmlns:a="http://schemas.openxmlformats.org/drawingml/2006/main" prst="rect">
            <a:avLst/>
          </a:prstGeom>
        </p:spPr>
      </p:pic>
      <p:pic>
        <p:nvPicPr>
          <p:cNvPr id="2" name="Rectangle 2406636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f9393cc0747fa">
            <a:extLst>
              <a:ext uri="{96DAC541-7B7A-43D3-8B79-37D633B846F1}">
                <asvg:svgBlip xmlns:asvg="http://schemas.microsoft.com/office/drawing/2016/SVG/main" r:embed="R821e3958230f4ec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2143125"/>
            <a:ext cx="5305425" cy="3638550"/>
          </a:xfrm>
          <a:prstGeom xmlns:a="http://schemas.openxmlformats.org/drawingml/2006/main" prst="rect">
            <a:avLst/>
          </a:prstGeom>
        </p:spPr>
      </p:pic>
      <p:pic>
        <p:nvPicPr>
          <p:cNvPr id="3" name="Rectangle 2406636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f9393cc0747fa">
            <a:extLst>
              <a:ext uri="{96DAC541-7B7A-43D3-8B79-37D633B846F1}">
                <asvg:svgBlip xmlns:asvg="http://schemas.microsoft.com/office/drawing/2016/SVG/main" r:embed="R821e3958230f4ec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86525" y="2143125"/>
            <a:ext cx="5305425" cy="3638550"/>
          </a:xfrm>
          <a:prstGeom xmlns:a="http://schemas.openxmlformats.org/drawingml/2006/main" prst="rect">
            <a:avLst/>
          </a:prstGeom>
        </p:spPr>
      </p:pic>
      <p:pic>
        <p:nvPicPr>
          <p:cNvPr id="4" name="Rectangle 2406636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f9393cc0747fa">
            <a:extLst>
              <a:ext uri="{96DAC541-7B7A-43D3-8B79-37D633B846F1}">
                <asvg:svgBlip xmlns:asvg="http://schemas.microsoft.com/office/drawing/2016/SVG/main" r:embed="R821e3958230f4ec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211050" y="2143125"/>
            <a:ext cx="5305425" cy="3638550"/>
          </a:xfrm>
          <a:prstGeom xmlns:a="http://schemas.openxmlformats.org/drawingml/2006/main" prst="rect">
            <a:avLst/>
          </a:prstGeom>
        </p:spPr>
      </p:pic>
      <p:pic>
        <p:nvPicPr>
          <p:cNvPr id="5" name="Rectangle 2406636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f9393cc0747fa">
            <a:extLst>
              <a:ext uri="{96DAC541-7B7A-43D3-8B79-37D633B846F1}">
                <asvg:svgBlip xmlns:asvg="http://schemas.microsoft.com/office/drawing/2016/SVG/main" r:embed="R821e3958230f4ec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6219825"/>
            <a:ext cx="5305425" cy="3638550"/>
          </a:xfrm>
          <a:prstGeom xmlns:a="http://schemas.openxmlformats.org/drawingml/2006/main" prst="rect">
            <a:avLst/>
          </a:prstGeom>
        </p:spPr>
      </p:pic>
      <p:pic>
        <p:nvPicPr>
          <p:cNvPr id="6" name="Rectangle 2406636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f9393cc0747fa">
            <a:extLst>
              <a:ext uri="{96DAC541-7B7A-43D3-8B79-37D633B846F1}">
                <asvg:svgBlip xmlns:asvg="http://schemas.microsoft.com/office/drawing/2016/SVG/main" r:embed="R821e3958230f4ec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86525" y="6219825"/>
            <a:ext cx="5305425" cy="3638550"/>
          </a:xfrm>
          <a:prstGeom xmlns:a="http://schemas.openxmlformats.org/drawingml/2006/main" prst="rect">
            <a:avLst/>
          </a:prstGeom>
        </p:spPr>
      </p:pic>
      <p:pic>
        <p:nvPicPr>
          <p:cNvPr id="7" name="Rectangle 2406636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f9393cc0747fa">
            <a:extLst>
              <a:ext uri="{96DAC541-7B7A-43D3-8B79-37D633B846F1}">
                <asvg:svgBlip xmlns:asvg="http://schemas.microsoft.com/office/drawing/2016/SVG/main" r:embed="R821e3958230f4ec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211050" y="6219825"/>
            <a:ext cx="5305425" cy="3638550"/>
          </a:xfrm>
          <a:prstGeom xmlns:a="http://schemas.openxmlformats.org/drawingml/2006/main" prst="rect">
            <a:avLst/>
          </a:prstGeom>
        </p:spPr>
      </p:pic>
      <p:pic>
        <p:nvPicPr>
          <p:cNvPr id="8" name="_Слой_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35046662e428a">
            <a:extLst>
              <a:ext uri="{96DAC541-7B7A-43D3-8B79-37D633B846F1}">
                <asvg:svgBlip xmlns:asvg="http://schemas.microsoft.com/office/drawing/2016/SVG/main" r:embed="Rf83248ca254a4e4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630150" y="6619875"/>
            <a:ext cx="1047750" cy="1114425"/>
          </a:xfrm>
          <a:prstGeom xmlns:a="http://schemas.openxmlformats.org/drawingml/2006/main" prst="rect">
            <a:avLst/>
          </a:prstGeom>
        </p:spPr>
      </p:pic>
      <p:pic>
        <p:nvPicPr>
          <p:cNvPr id="9" name="Vec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152291bdf483a">
            <a:extLst>
              <a:ext uri="{96DAC541-7B7A-43D3-8B79-37D633B846F1}">
                <asvg:svgBlip xmlns:asvg="http://schemas.microsoft.com/office/drawing/2016/SVG/main" r:embed="R9194ddc5097b4a0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81100" y="2571750"/>
            <a:ext cx="1095375" cy="1114425"/>
          </a:xfrm>
          <a:prstGeom xmlns:a="http://schemas.openxmlformats.org/drawingml/2006/main" prst="rect">
            <a:avLst/>
          </a:prstGeom>
        </p:spPr>
      </p:pic>
      <p:pic>
        <p:nvPicPr>
          <p:cNvPr id="10" name="Vec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5bc30d9264f97">
            <a:extLst>
              <a:ext uri="{96DAC541-7B7A-43D3-8B79-37D633B846F1}">
                <asvg:svgBlip xmlns:asvg="http://schemas.microsoft.com/office/drawing/2016/SVG/main" r:embed="R46b7c0c95bec4fe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05625" y="2571750"/>
            <a:ext cx="1028700" cy="1114425"/>
          </a:xfrm>
          <a:prstGeom xmlns:a="http://schemas.openxmlformats.org/drawingml/2006/main" prst="rect">
            <a:avLst/>
          </a:prstGeom>
        </p:spPr>
      </p:pic>
      <p:pic>
        <p:nvPicPr>
          <p:cNvPr id="11" name="Vec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a1f0230094f19">
            <a:extLst>
              <a:ext uri="{96DAC541-7B7A-43D3-8B79-37D633B846F1}">
                <asvg:svgBlip xmlns:asvg="http://schemas.microsoft.com/office/drawing/2016/SVG/main" r:embed="Rb64a34ebee034f7f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630150" y="2571750"/>
            <a:ext cx="1066800" cy="1095375"/>
          </a:xfrm>
          <a:prstGeom xmlns:a="http://schemas.openxmlformats.org/drawingml/2006/main" prst="rect">
            <a:avLst/>
          </a:prstGeom>
        </p:spPr>
      </p:pic>
      <p:pic>
        <p:nvPicPr>
          <p:cNvPr id="12" name="Vec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c3966481249a2">
            <a:extLst>
              <a:ext uri="{96DAC541-7B7A-43D3-8B79-37D633B846F1}">
                <asvg:svgBlip xmlns:asvg="http://schemas.microsoft.com/office/drawing/2016/SVG/main" r:embed="Rb6e36a5e5aca431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81100" y="6619875"/>
            <a:ext cx="1076325" cy="1095375"/>
          </a:xfrm>
          <a:prstGeom xmlns:a="http://schemas.openxmlformats.org/drawingml/2006/main" prst="rect">
            <a:avLst/>
          </a:prstGeom>
        </p:spPr>
      </p:pic>
      <p:pic>
        <p:nvPicPr>
          <p:cNvPr id="13" name="_Слой_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b3cdc00454f7b">
            <a:extLst>
              <a:ext uri="{96DAC541-7B7A-43D3-8B79-37D633B846F1}">
                <asvg:svgBlip xmlns:asvg="http://schemas.microsoft.com/office/drawing/2016/SVG/main" r:embed="Rbfefd3419f5f4bd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05625" y="6619875"/>
            <a:ext cx="1047750" cy="1114425"/>
          </a:xfrm>
          <a:prstGeom xmlns:a="http://schemas.openxmlformats.org/drawingml/2006/main" prst="rect">
            <a:avLst/>
          </a:prstGeom>
        </p:spPr>
      </p:pic>
      <p:sp>
        <p:nvSpPr>
          <p:cNvPr id="15" name="Text 0">
            <a:extLst xmlns:a="http://schemas.openxmlformats.org/drawingml/2006/main">
              <a:ext uri="{FF2B5EF4-FFF2-40B4-BE49-F238E27FC236}">
                <a16:creationId xmlns:a16="http://schemas.microsoft.com/office/drawing/2014/main" id="{1479FFAD-C93E-4FC3-B1E0-7D336789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1037272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600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Сигналы ≠</a:t>
            </a:r>
          </a:p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600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контур допуска</a:t>
            </a:r>
          </a:p>
        </p:txBody>
      </p:sp>
      <p:sp>
        <p:nvSpPr>
          <p:cNvPr id="16" name="Text 1">
            <a:extLst xmlns:a="http://schemas.openxmlformats.org/drawingml/2006/main">
              <a:ext uri="{FF2B5EF4-FFF2-40B4-BE49-F238E27FC236}">
                <a16:creationId xmlns:a16="http://schemas.microsoft.com/office/drawing/2014/main" id="{D76E9A97-03A0-4A19-B6BB-BB087E5F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71975"/>
            <a:ext cx="4552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ShieldGemma 2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image safety signal</a:t>
            </a:r>
          </a:p>
        </p:txBody>
      </p:sp>
      <p:sp>
        <p:nvSpPr>
          <p:cNvPr id="17" name="Text 2">
            <a:extLst xmlns:a="http://schemas.openxmlformats.org/drawingml/2006/main">
              <a:ext uri="{FF2B5EF4-FFF2-40B4-BE49-F238E27FC236}">
                <a16:creationId xmlns:a16="http://schemas.microsoft.com/office/drawing/2014/main" id="{1475371D-F147-466A-B885-7826182F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448675"/>
            <a:ext cx="4552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Cloud moderation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managed signal</a:t>
            </a:r>
          </a:p>
        </p:txBody>
      </p:sp>
      <p:sp>
        <p:nvSpPr>
          <p:cNvPr id="18" name="Text 3">
            <a:extLst xmlns:a="http://schemas.openxmlformats.org/drawingml/2006/main">
              <a:ext uri="{FF2B5EF4-FFF2-40B4-BE49-F238E27FC236}">
                <a16:creationId xmlns:a16="http://schemas.microsoft.com/office/drawing/2014/main" id="{2F1691E0-6336-482E-9EEF-8D4ADABF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371975"/>
            <a:ext cx="4552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GenSecOps Псы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bank policy</a:t>
            </a:r>
          </a:p>
        </p:txBody>
      </p:sp>
      <p:sp>
        <p:nvSpPr>
          <p:cNvPr id="19" name="Text 4">
            <a:extLst xmlns:a="http://schemas.openxmlformats.org/drawingml/2006/main">
              <a:ext uri="{FF2B5EF4-FFF2-40B4-BE49-F238E27FC236}">
                <a16:creationId xmlns:a16="http://schemas.microsoft.com/office/drawing/2014/main" id="{C1BA791C-146B-4F3D-A5BA-514F702F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448675"/>
            <a:ext cx="4552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Quarantine → release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наш enforcement</a:t>
            </a:r>
          </a:p>
        </p:txBody>
      </p:sp>
      <p:sp>
        <p:nvSpPr>
          <p:cNvPr id="20" name="Text 5">
            <a:extLst xmlns:a="http://schemas.openxmlformats.org/drawingml/2006/main">
              <a:ext uri="{FF2B5EF4-FFF2-40B4-BE49-F238E27FC236}">
                <a16:creationId xmlns:a16="http://schemas.microsoft.com/office/drawing/2014/main" id="{967F3061-A048-4BFC-B70B-F53DC165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71975"/>
            <a:ext cx="4552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Safety Passport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наш proof</a:t>
            </a:r>
          </a:p>
        </p:txBody>
      </p:sp>
      <p:sp>
        <p:nvSpPr>
          <p:cNvPr id="21" name="Text 6">
            <a:extLst xmlns:a="http://schemas.openxmlformats.org/drawingml/2006/main">
              <a:ext uri="{FF2B5EF4-FFF2-40B4-BE49-F238E27FC236}">
                <a16:creationId xmlns:a16="http://schemas.microsoft.com/office/drawing/2014/main" id="{58F1C44C-EDD9-4BE9-A1CA-C849A55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8448675"/>
            <a:ext cx="4552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Verified download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наш control</a:t>
            </a:r>
          </a:p>
        </p:txBody>
      </p:sp>
    </p:spTree>
    <p:extLst>
      <p:ext uri="{BB962C8B-B14F-4D97-AF65-F5344CB8AC3E}">
        <p14:creationId xmlns:p14="http://schemas.microsoft.com/office/powerpoint/2010/main" val="680639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Rectangle 2406636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3e103026b4dfc">
            <a:extLst>
              <a:ext uri="{96DAC541-7B7A-43D3-8B79-37D633B846F1}">
                <asvg:svgBlip xmlns:asvg="http://schemas.microsoft.com/office/drawing/2016/SVG/main" r:embed="R691847b8d883435f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5572125"/>
            <a:ext cx="3876675" cy="4286250"/>
          </a:xfrm>
          <a:prstGeom xmlns:a="http://schemas.openxmlformats.org/drawingml/2006/main" prst="rect">
            <a:avLst/>
          </a:prstGeom>
        </p:spPr>
      </p:pic>
      <p:pic>
        <p:nvPicPr>
          <p:cNvPr id="2" name="Rectangle 2406636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6128506a84e6a">
            <a:extLst>
              <a:ext uri="{96DAC541-7B7A-43D3-8B79-37D633B846F1}">
                <asvg:svgBlip xmlns:asvg="http://schemas.microsoft.com/office/drawing/2016/SVG/main" r:embed="Ra874c69ab91e4a1e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857250"/>
            <a:ext cx="3876675" cy="4286250"/>
          </a:xfrm>
          <a:prstGeom xmlns:a="http://schemas.openxmlformats.org/drawingml/2006/main" prst="rect">
            <a:avLst/>
          </a:prstGeom>
        </p:spPr>
      </p:pic>
      <p:pic>
        <p:nvPicPr>
          <p:cNvPr id="3" name="Rectangle 2406636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3e103026b4dfc">
            <a:extLst>
              <a:ext uri="{96DAC541-7B7A-43D3-8B79-37D633B846F1}">
                <asvg:svgBlip xmlns:asvg="http://schemas.microsoft.com/office/drawing/2016/SVG/main" r:embed="R691847b8d883435f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057775" y="5572125"/>
            <a:ext cx="3876675" cy="4286250"/>
          </a:xfrm>
          <a:prstGeom xmlns:a="http://schemas.openxmlformats.org/drawingml/2006/main" prst="rect">
            <a:avLst/>
          </a:prstGeom>
        </p:spPr>
      </p:pic>
      <p:pic>
        <p:nvPicPr>
          <p:cNvPr id="4" name="Rectangle 2406636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3e103026b4dfc">
            <a:extLst>
              <a:ext uri="{96DAC541-7B7A-43D3-8B79-37D633B846F1}">
                <asvg:svgBlip xmlns:asvg="http://schemas.microsoft.com/office/drawing/2016/SVG/main" r:embed="R691847b8d883435f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057775" y="857250"/>
            <a:ext cx="3876675" cy="4286250"/>
          </a:xfrm>
          <a:prstGeom xmlns:a="http://schemas.openxmlformats.org/drawingml/2006/main" prst="rect">
            <a:avLst/>
          </a:prstGeom>
        </p:spPr>
      </p:pic>
      <p:pic>
        <p:nvPicPr>
          <p:cNvPr id="5" name="106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d438103754e8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53550" y="857250"/>
            <a:ext cx="8172450" cy="9001125"/>
          </a:xfrm>
          <a:prstGeom xmlns:a="http://schemas.openxmlformats.org/drawingml/2006/main" prst="rect">
            <a:avLst/>
          </a:prstGeom>
        </p:spPr>
      </p:pic>
      <p:sp>
        <p:nvSpPr>
          <p:cNvPr id="7" name="name_03">
            <a:extLst xmlns:a="http://schemas.openxmlformats.org/drawingml/2006/main">
              <a:ext uri="{FF2B5EF4-FFF2-40B4-BE49-F238E27FC236}">
                <a16:creationId xmlns:a16="http://schemas.microsoft.com/office/drawing/2014/main" id="{3483DD66-43A3-4A04-A3A5-E4EDAD6A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00750"/>
            <a:ext cx="1647825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03</a:t>
            </a:r>
          </a:p>
        </p:txBody>
      </p:sp>
      <p:sp>
        <p:nvSpPr>
          <p:cNvPr id="8" name="name_01">
            <a:extLst xmlns:a="http://schemas.openxmlformats.org/drawingml/2006/main">
              <a:ext uri="{FF2B5EF4-FFF2-40B4-BE49-F238E27FC236}">
                <a16:creationId xmlns:a16="http://schemas.microsoft.com/office/drawing/2014/main" id="{E74A8727-0B3C-426D-8132-958CCEAE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85875"/>
            <a:ext cx="142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01</a:t>
            </a:r>
          </a:p>
        </p:txBody>
      </p:sp>
      <p:sp>
        <p:nvSpPr>
          <p:cNvPr id="9" name="name_04">
            <a:extLst xmlns:a="http://schemas.openxmlformats.org/drawingml/2006/main">
              <a:ext uri="{FF2B5EF4-FFF2-40B4-BE49-F238E27FC236}">
                <a16:creationId xmlns:a16="http://schemas.microsoft.com/office/drawing/2014/main" id="{CA1362DA-9C68-4A15-92D1-673A0224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000750"/>
            <a:ext cx="1743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04</a:t>
            </a:r>
          </a:p>
        </p:txBody>
      </p:sp>
      <p:sp>
        <p:nvSpPr>
          <p:cNvPr id="10" name="name_02">
            <a:extLst xmlns:a="http://schemas.openxmlformats.org/drawingml/2006/main">
              <a:ext uri="{FF2B5EF4-FFF2-40B4-BE49-F238E27FC236}">
                <a16:creationId xmlns:a16="http://schemas.microsoft.com/office/drawing/2014/main" id="{5A8BF235-C4EE-42E8-B82A-E57CD426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285875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02</a:t>
            </a:r>
          </a:p>
        </p:txBody>
      </p:sp>
      <p:sp>
        <p:nvSpPr>
          <p:cNvPr id="11" name="Text 4">
            <a:extLst xmlns:a="http://schemas.openxmlformats.org/drawingml/2006/main">
              <a:ext uri="{FF2B5EF4-FFF2-40B4-BE49-F238E27FC236}">
                <a16:creationId xmlns:a16="http://schemas.microsoft.com/office/drawing/2014/main" id="{4C3D4BBA-96CA-4EC3-BE98-0CD0067D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60430"/>
            <a:ext cx="3095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FFFFFF"/>
                </a:solidFill>
                <a:latin typeface="Styrene A Regular"/>
                <a:ea typeface="Styrene A Regular"/>
                <a:cs typeface="Styrene A Regular"/>
              </a:rPr>
              <a:t>Mandatory output checks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FFFFFF"/>
                </a:solidFill>
                <a:latin typeface="Styrene A Regular"/>
                <a:ea typeface="Styrene A Regular"/>
                <a:cs typeface="Styrene A Regular"/>
              </a:rPr>
              <a:t>без них нет ALLOW</a:t>
            </a:r>
          </a:p>
        </p:txBody>
      </p:sp>
      <p:sp>
        <p:nvSpPr>
          <p:cNvPr id="12" name="Text 5">
            <a:extLst xmlns:a="http://schemas.openxmlformats.org/drawingml/2006/main">
              <a:ext uri="{FF2B5EF4-FFF2-40B4-BE49-F238E27FC236}">
                <a16:creationId xmlns:a16="http://schemas.microsoft.com/office/drawing/2014/main" id="{876240F1-AFC6-4A24-B2CD-DDAE6B86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80055"/>
            <a:ext cx="3314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Audit before release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до публикации</a:t>
            </a:r>
          </a:p>
        </p:txBody>
      </p:sp>
      <p:sp>
        <p:nvSpPr>
          <p:cNvPr id="13" name="Text 6">
            <a:extLst xmlns:a="http://schemas.openxmlformats.org/drawingml/2006/main">
              <a:ext uri="{FF2B5EF4-FFF2-40B4-BE49-F238E27FC236}">
                <a16:creationId xmlns:a16="http://schemas.microsoft.com/office/drawing/2014/main" id="{368FA2CD-61E6-440D-A38F-782DBF3B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60430"/>
            <a:ext cx="3095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Safety Passport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SHA-256 + HMAC</a:t>
            </a:r>
          </a:p>
        </p:txBody>
      </p:sp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F85344FA-2B7F-450A-9034-FBEE37C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380055"/>
            <a:ext cx="3095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Fail closed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ошибка → BLOCK</a:t>
            </a:r>
          </a:p>
        </p:txBody>
      </p:sp>
    </p:spTree>
    <p:extLst>
      <p:ext uri="{BB962C8B-B14F-4D97-AF65-F5344CB8AC3E}">
        <p14:creationId xmlns:p14="http://schemas.microsoft.com/office/powerpoint/2010/main" val="5759283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F3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oup 21361399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8430d3b9f40be">
            <a:extLst>
              <a:ext uri="{96DAC541-7B7A-43D3-8B79-37D633B846F1}">
                <asvg:svgBlip xmlns:asvg="http://schemas.microsoft.com/office/drawing/2016/SVG/main" r:embed="R385035ee29194474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115580" y="428625"/>
            <a:ext cx="2409825" cy="857250"/>
          </a:xfrm>
          <a:prstGeom xmlns:a="http://schemas.openxmlformats.org/drawingml/2006/main" prst="rect">
            <a:avLst/>
          </a:prstGeom>
        </p:spPr>
      </p:pic>
      <p:pic>
        <p:nvPicPr>
          <p:cNvPr id="2" name="_Слой_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c634f76c143ee">
            <a:extLst>
              <a:ext uri="{96DAC541-7B7A-43D3-8B79-37D633B846F1}">
                <asvg:svgBlip xmlns:asvg="http://schemas.microsoft.com/office/drawing/2016/SVG/main" r:embed="R305a8f4582af49f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428625"/>
            <a:ext cx="8905875" cy="9429750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37F687F7-C04B-4284-BA36-ECA54A26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543800"/>
            <a:ext cx="7239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spcAft>
                <a:spcPts val="1800"/>
              </a:spcAft>
              <a:buNone/>
            </a:pPr>
            <a:r>
              <a:rPr sz="825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5 кейсов</a:t>
            </a:r>
          </a:p>
        </p:txBody>
      </p:sp>
    </p:spTree>
    <p:extLst>
      <p:ext uri="{BB962C8B-B14F-4D97-AF65-F5344CB8AC3E}">
        <p14:creationId xmlns:p14="http://schemas.microsoft.com/office/powerpoint/2010/main" val="1495686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Rectangle 2406636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6933f7e7e453b">
            <a:extLst>
              <a:ext uri="{96DAC541-7B7A-43D3-8B79-37D633B846F1}">
                <asvg:svgBlip xmlns:asvg="http://schemas.microsoft.com/office/drawing/2016/SVG/main" r:embed="R21671b3b61b64b7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857250"/>
            <a:ext cx="8172450" cy="4286250"/>
          </a:xfrm>
          <a:prstGeom xmlns:a="http://schemas.openxmlformats.org/drawingml/2006/main" prst="rect">
            <a:avLst/>
          </a:prstGeom>
        </p:spPr>
      </p:pic>
      <p:pic>
        <p:nvPicPr>
          <p:cNvPr id="2" name="Rectangle 2406636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de530d5084bd5">
            <a:extLst>
              <a:ext uri="{96DAC541-7B7A-43D3-8B79-37D633B846F1}">
                <asvg:svgBlip xmlns:asvg="http://schemas.microsoft.com/office/drawing/2016/SVG/main" r:embed="Ra25a52468707463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5572125"/>
            <a:ext cx="8172450" cy="3857625"/>
          </a:xfrm>
          <a:prstGeom xmlns:a="http://schemas.openxmlformats.org/drawingml/2006/main" prst="rect">
            <a:avLst/>
          </a:prstGeom>
        </p:spPr>
      </p:pic>
      <p:pic>
        <p:nvPicPr>
          <p:cNvPr id="3" name="Rectangle 2406636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de530d5084bd5">
            <a:extLst>
              <a:ext uri="{96DAC541-7B7A-43D3-8B79-37D633B846F1}">
                <asvg:svgBlip xmlns:asvg="http://schemas.microsoft.com/office/drawing/2016/SVG/main" r:embed="Ra25a52468707463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53550" y="5572125"/>
            <a:ext cx="8172450" cy="3857625"/>
          </a:xfrm>
          <a:prstGeom xmlns:a="http://schemas.openxmlformats.org/drawingml/2006/main" prst="rect">
            <a:avLst/>
          </a:prstGeom>
        </p:spPr>
      </p:pic>
      <p:pic>
        <p:nvPicPr>
          <p:cNvPr id="4" name="Rectangle 2406636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ce4ecaf8a4d90">
            <a:extLst>
              <a:ext uri="{96DAC541-7B7A-43D3-8B79-37D633B846F1}">
                <asvg:svgBlip xmlns:asvg="http://schemas.microsoft.com/office/drawing/2016/SVG/main" r:embed="R777f4e47966f40b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53550" y="857250"/>
            <a:ext cx="3876675" cy="4286250"/>
          </a:xfrm>
          <a:prstGeom xmlns:a="http://schemas.openxmlformats.org/drawingml/2006/main" prst="rect">
            <a:avLst/>
          </a:prstGeom>
        </p:spPr>
      </p:pic>
      <p:pic>
        <p:nvPicPr>
          <p:cNvPr id="5" name="Rectangle 2406636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73958d28c4b30">
            <a:extLst>
              <a:ext uri="{96DAC541-7B7A-43D3-8B79-37D633B846F1}">
                <asvg:svgBlip xmlns:asvg="http://schemas.microsoft.com/office/drawing/2016/SVG/main" r:embed="R867f5cce4a544a4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649325" y="857250"/>
            <a:ext cx="3876675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Text 0">
            <a:extLst xmlns:a="http://schemas.openxmlformats.org/drawingml/2006/main">
              <a:ext uri="{FF2B5EF4-FFF2-40B4-BE49-F238E27FC236}">
                <a16:creationId xmlns:a16="http://schemas.microsoft.com/office/drawing/2014/main" id="{D61CC5EE-B644-4BA2-9226-28F3B9DD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38250"/>
            <a:ext cx="6600825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600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0 release</a:t>
            </a:r>
          </a:p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600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без mandatory checks</a:t>
            </a:r>
          </a:p>
        </p:txBody>
      </p:sp>
      <p:sp>
        <p:nvSpPr>
          <p:cNvPr id="8" name="name_23">
            <a:extLst xmlns:a="http://schemas.openxmlformats.org/drawingml/2006/main">
              <a:ext uri="{FF2B5EF4-FFF2-40B4-BE49-F238E27FC236}">
                <a16:creationId xmlns:a16="http://schemas.microsoft.com/office/drawing/2014/main" id="{4776F673-1413-4AD2-AB6E-D8A1D85B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238250"/>
            <a:ext cx="2781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5</a:t>
            </a:r>
          </a:p>
        </p:txBody>
      </p:sp>
      <p:sp>
        <p:nvSpPr>
          <p:cNvPr id="9" name="name_89">
            <a:extLst xmlns:a="http://schemas.openxmlformats.org/drawingml/2006/main">
              <a:ext uri="{FF2B5EF4-FFF2-40B4-BE49-F238E27FC236}">
                <a16:creationId xmlns:a16="http://schemas.microsoft.com/office/drawing/2014/main" id="{9E565CAA-D4A5-449E-BADF-8776547A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1238250"/>
            <a:ext cx="2838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3</a:t>
            </a:r>
          </a:p>
        </p:txBody>
      </p:sp>
      <p:sp>
        <p:nvSpPr>
          <p:cNvPr id="10" name="name_15 655">
            <a:extLst xmlns:a="http://schemas.openxmlformats.org/drawingml/2006/main">
              <a:ext uri="{FF2B5EF4-FFF2-40B4-BE49-F238E27FC236}">
                <a16:creationId xmlns:a16="http://schemas.microsoft.com/office/drawing/2014/main" id="{9F4FE46E-31E8-48B7-9BD7-E66303B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53125"/>
            <a:ext cx="3952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2</a:t>
            </a:r>
          </a:p>
        </p:txBody>
      </p:sp>
      <p:sp>
        <p:nvSpPr>
          <p:cNvPr id="11" name="name_1 390">
            <a:extLst xmlns:a="http://schemas.openxmlformats.org/drawingml/2006/main">
              <a:ext uri="{FF2B5EF4-FFF2-40B4-BE49-F238E27FC236}">
                <a16:creationId xmlns:a16="http://schemas.microsoft.com/office/drawing/2014/main" id="{CA7D06FF-9292-48AB-8892-E1772F76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953125"/>
            <a:ext cx="3228975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409</a:t>
            </a:r>
          </a:p>
        </p:txBody>
      </p:sp>
      <p:sp>
        <p:nvSpPr>
          <p:cNvPr id="12" name="Text 5">
            <a:extLst xmlns:a="http://schemas.openxmlformats.org/drawingml/2006/main">
              <a:ext uri="{FF2B5EF4-FFF2-40B4-BE49-F238E27FC236}">
                <a16:creationId xmlns:a16="http://schemas.microsoft.com/office/drawing/2014/main" id="{5F455E25-E73E-4B9F-A1C6-7F99171C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74688"/>
            <a:ext cx="2695575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FFFFFF"/>
                </a:solidFill>
                <a:latin typeface="Styrene A Regular"/>
                <a:ea typeface="Styrene A Regular"/>
                <a:cs typeface="Styrene A Regular"/>
              </a:rPr>
              <a:t>demo-сценариев</a:t>
            </a:r>
          </a:p>
        </p:txBody>
      </p:sp>
      <p:sp>
        <p:nvSpPr>
          <p:cNvPr id="13" name="Text 6">
            <a:extLst xmlns:a="http://schemas.openxmlformats.org/drawingml/2006/main">
              <a:ext uri="{FF2B5EF4-FFF2-40B4-BE49-F238E27FC236}">
                <a16:creationId xmlns:a16="http://schemas.microsoft.com/office/drawing/2014/main" id="{66B28C6F-5F56-40FD-8241-7FF16FFA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3612738"/>
            <a:ext cx="3324225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verdicts</a:t>
            </a:r>
          </a:p>
        </p:txBody>
      </p:sp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FF11CD0D-EF31-464F-8941-64733BC7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08563"/>
            <a:ext cx="6829425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storage-зоны</a:t>
            </a:r>
          </a:p>
        </p:txBody>
      </p:sp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8A537C3B-D365-4465-B037-44DA0EA4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8308563"/>
            <a:ext cx="744855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tampered download</a:t>
            </a:r>
          </a:p>
        </p:txBody>
      </p:sp>
    </p:spTree>
    <p:extLst>
      <p:ext uri="{BB962C8B-B14F-4D97-AF65-F5344CB8AC3E}">
        <p14:creationId xmlns:p14="http://schemas.microsoft.com/office/powerpoint/2010/main" val="21234893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Rectangle 2406636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b5a88520a4132">
            <a:extLst>
              <a:ext uri="{96DAC541-7B7A-43D3-8B79-37D633B846F1}">
                <asvg:svgBlip xmlns:asvg="http://schemas.microsoft.com/office/drawing/2016/SVG/main" r:embed="Rbeaf4f342eb54dc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2143125"/>
            <a:ext cx="8172450" cy="3638550"/>
          </a:xfrm>
          <a:prstGeom xmlns:a="http://schemas.openxmlformats.org/drawingml/2006/main" prst="rect">
            <a:avLst/>
          </a:prstGeom>
        </p:spPr>
      </p:pic>
      <p:pic>
        <p:nvPicPr>
          <p:cNvPr id="2" name="Rectangle 2406636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2f187baab410b">
            <a:extLst>
              <a:ext uri="{96DAC541-7B7A-43D3-8B79-37D633B846F1}">
                <asvg:svgBlip xmlns:asvg="http://schemas.microsoft.com/office/drawing/2016/SVG/main" r:embed="Rf786834cc04e402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6219825"/>
            <a:ext cx="8172450" cy="3638550"/>
          </a:xfrm>
          <a:prstGeom xmlns:a="http://schemas.openxmlformats.org/drawingml/2006/main" prst="rect">
            <a:avLst/>
          </a:prstGeom>
        </p:spPr>
      </p:pic>
      <p:pic>
        <p:nvPicPr>
          <p:cNvPr id="3" name="Rectangle 2406636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2f187baab410b">
            <a:extLst>
              <a:ext uri="{96DAC541-7B7A-43D3-8B79-37D633B846F1}">
                <asvg:svgBlip xmlns:asvg="http://schemas.microsoft.com/office/drawing/2016/SVG/main" r:embed="Rf786834cc04e402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53550" y="2143125"/>
            <a:ext cx="8172450" cy="3638550"/>
          </a:xfrm>
          <a:prstGeom xmlns:a="http://schemas.openxmlformats.org/drawingml/2006/main" prst="rect">
            <a:avLst/>
          </a:prstGeom>
        </p:spPr>
      </p:pic>
      <p:pic>
        <p:nvPicPr>
          <p:cNvPr id="4" name="Rectangle 2406636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2f187baab410b">
            <a:extLst>
              <a:ext uri="{96DAC541-7B7A-43D3-8B79-37D633B846F1}">
                <asvg:svgBlip xmlns:asvg="http://schemas.microsoft.com/office/drawing/2016/SVG/main" r:embed="Rf786834cc04e402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53550" y="6219825"/>
            <a:ext cx="8172450" cy="3638550"/>
          </a:xfrm>
          <a:prstGeom xmlns:a="http://schemas.openxmlformats.org/drawingml/2006/main" prst="rect">
            <a:avLst/>
          </a:prstGeom>
        </p:spPr>
      </p:pic>
      <p:pic>
        <p:nvPicPr>
          <p:cNvPr id="5" name="Group 21361399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7442d0e314f0b">
            <a:extLst>
              <a:ext uri="{96DAC541-7B7A-43D3-8B79-37D633B846F1}">
                <asvg:svgBlip xmlns:asvg="http://schemas.microsoft.com/office/drawing/2016/SVG/main" r:embed="R838f2c1f9eed4850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115580" y="428625"/>
            <a:ext cx="2409825" cy="857250"/>
          </a:xfrm>
          <a:prstGeom xmlns:a="http://schemas.openxmlformats.org/drawingml/2006/main" prst="rect">
            <a:avLst/>
          </a:prstGeom>
        </p:spPr>
      </p:pic>
      <p:sp>
        <p:nvSpPr>
          <p:cNvPr id="7" name="name_01">
            <a:extLst xmlns:a="http://schemas.openxmlformats.org/drawingml/2006/main">
              <a:ext uri="{FF2B5EF4-FFF2-40B4-BE49-F238E27FC236}">
                <a16:creationId xmlns:a16="http://schemas.microsoft.com/office/drawing/2014/main" id="{C5A9791B-798F-41D2-86AF-79E0FF9D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43175"/>
            <a:ext cx="142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01</a:t>
            </a:r>
          </a:p>
        </p:txBody>
      </p:sp>
      <p:sp>
        <p:nvSpPr>
          <p:cNvPr id="8" name="name_03">
            <a:extLst xmlns:a="http://schemas.openxmlformats.org/drawingml/2006/main">
              <a:ext uri="{FF2B5EF4-FFF2-40B4-BE49-F238E27FC236}">
                <a16:creationId xmlns:a16="http://schemas.microsoft.com/office/drawing/2014/main" id="{3DA18D8C-7192-4472-84A3-5099FCDA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619875"/>
            <a:ext cx="1647825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03</a:t>
            </a:r>
          </a:p>
        </p:txBody>
      </p:sp>
      <p:sp>
        <p:nvSpPr>
          <p:cNvPr id="9" name="name_02">
            <a:extLst xmlns:a="http://schemas.openxmlformats.org/drawingml/2006/main">
              <a:ext uri="{FF2B5EF4-FFF2-40B4-BE49-F238E27FC236}">
                <a16:creationId xmlns:a16="http://schemas.microsoft.com/office/drawing/2014/main" id="{BE4E065B-CC98-494A-8153-6AB04692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43175"/>
            <a:ext cx="1638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02</a:t>
            </a:r>
          </a:p>
        </p:txBody>
      </p:sp>
      <p:sp>
        <p:nvSpPr>
          <p:cNvPr id="10" name="name_04">
            <a:extLst xmlns:a="http://schemas.openxmlformats.org/drawingml/2006/main">
              <a:ext uri="{FF2B5EF4-FFF2-40B4-BE49-F238E27FC236}">
                <a16:creationId xmlns:a16="http://schemas.microsoft.com/office/drawing/2014/main" id="{459DF606-55A3-44BA-B156-F5736C8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619875"/>
            <a:ext cx="1743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 spc="-525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04</a:t>
            </a:r>
          </a:p>
        </p:txBody>
      </p:sp>
      <p:sp>
        <p:nvSpPr>
          <p:cNvPr id="11" name="Text 4">
            <a:extLst xmlns:a="http://schemas.openxmlformats.org/drawingml/2006/main">
              <a:ext uri="{FF2B5EF4-FFF2-40B4-BE49-F238E27FC236}">
                <a16:creationId xmlns:a16="http://schemas.microsoft.com/office/drawing/2014/main" id="{3AA71FC3-7CDA-4EBE-94C1-903266D9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1037272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600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Roadmap production</a:t>
            </a:r>
          </a:p>
        </p:txBody>
      </p:sp>
      <p:sp>
        <p:nvSpPr>
          <p:cNvPr id="12" name="Text 5">
            <a:extLst xmlns:a="http://schemas.openxmlformats.org/drawingml/2006/main">
              <a:ext uri="{FF2B5EF4-FFF2-40B4-BE49-F238E27FC236}">
                <a16:creationId xmlns:a16="http://schemas.microsoft.com/office/drawing/2014/main" id="{F2BECED3-5B33-4868-9E3F-5683BB1C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5962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FFFFFF"/>
                </a:solidFill>
                <a:latin typeface="Styrene A Regular"/>
                <a:ea typeface="Styrene A Regular"/>
                <a:cs typeface="Styrene A Regular"/>
              </a:rPr>
              <a:t>01 MVP: DONE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FFFFFF"/>
                </a:solidFill>
                <a:latin typeface="Styrene A Regular"/>
                <a:ea typeface="Styrene A Regular"/>
                <a:cs typeface="Styrene A Regular"/>
              </a:rPr>
              <a:t>Enforcement path</a:t>
            </a:r>
          </a:p>
        </p:txBody>
      </p:sp>
      <p:sp>
        <p:nvSpPr>
          <p:cNvPr id="13" name="Text 6">
            <a:extLst xmlns:a="http://schemas.openxmlformats.org/drawingml/2006/main">
              <a:ext uri="{FF2B5EF4-FFF2-40B4-BE49-F238E27FC236}">
                <a16:creationId xmlns:a16="http://schemas.microsoft.com/office/drawing/2014/main" id="{AB1C4B9D-7A67-48A3-AEF5-9CEC8C7D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62950"/>
            <a:ext cx="5962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03 BANK RUNTIME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IAM • KMS • WORM</a:t>
            </a:r>
          </a:p>
        </p:txBody>
      </p:sp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5551DBD5-715C-4BB9-9725-16257168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362950"/>
            <a:ext cx="6867525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04 OPERATIONS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SIEM • review • drift</a:t>
            </a:r>
          </a:p>
        </p:txBody>
      </p:sp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FF9BF813-04D0-406F-897B-A8FA7F3C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86250"/>
            <a:ext cx="6867525" cy="1085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02 DETECTORS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2850">
                <a:solidFill>
                  <a:srgbClr val="000000"/>
                </a:solidFill>
                <a:latin typeface="Styrene A Regular"/>
                <a:ea typeface="Styrene A Regular"/>
                <a:cs typeface="Styrene A Regular"/>
              </a:rPr>
              <a:t>Image safety • OCR</a:t>
            </a:r>
          </a:p>
        </p:txBody>
      </p:sp>
    </p:spTree>
    <p:extLst>
      <p:ext uri="{BB962C8B-B14F-4D97-AF65-F5344CB8AC3E}">
        <p14:creationId xmlns:p14="http://schemas.microsoft.com/office/powerpoint/2010/main" val="2927414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F3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oup 21361399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3fddb388d438b">
            <a:extLst>
              <a:ext uri="{96DAC541-7B7A-43D3-8B79-37D633B846F1}">
                <asvg:svgBlip xmlns:asvg="http://schemas.microsoft.com/office/drawing/2016/SVG/main" r:embed="R9f008fbf399f441e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115580" y="428625"/>
            <a:ext cx="2409825" cy="857250"/>
          </a:xfrm>
          <a:prstGeom xmlns:a="http://schemas.openxmlformats.org/drawingml/2006/main" prst="rect">
            <a:avLst/>
          </a:prstGeom>
        </p:spPr>
      </p:pic>
      <p:pic>
        <p:nvPicPr>
          <p:cNvPr id="2" name="stick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e829a70c041d0">
            <a:extLst>
              <a:ext uri="{96DAC541-7B7A-43D3-8B79-37D633B846F1}">
                <asvg:svgBlip xmlns:asvg="http://schemas.microsoft.com/office/drawing/2016/SVG/main" r:embed="R92ad64e5ebda45a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857250"/>
            <a:ext cx="1409700" cy="542925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C8FF7C9-9E8C-4914-908F-5792B4B7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16888504" cy="495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Не классифицируем.</a:t>
            </a:r>
          </a:p>
          <a:p xmlns:a="http://schemas.openxmlformats.org/drawingml/2006/main">
            <a:pPr marL="0" indent="0" algn="l">
              <a:lnSpc>
                <a:spcPct val="83333"/>
              </a:lnSpc>
              <a:spcAft>
                <a:spcPts val="1800"/>
              </a:spcAft>
              <a:buNone/>
            </a:pPr>
            <a:r>
              <a:rPr sz="9750" b="1">
                <a:solidFill>
                  <a:srgbClr val="FFFFFF"/>
                </a:solidFill>
                <a:latin typeface="Styrene A Bold"/>
                <a:ea typeface="Styrene A Bold"/>
                <a:cs typeface="Styrene A Bold"/>
              </a:rPr>
              <a:t>Допускаем.</a:t>
            </a:r>
          </a:p>
        </p:txBody>
      </p:sp>
      <p:sp>
        <p:nvSpPr>
          <p:cNvPr id="5" name="default_name">
            <a:extLst xmlns:a="http://schemas.openxmlformats.org/drawingml/2006/main">
              <a:ext uri="{FF2B5EF4-FFF2-40B4-BE49-F238E27FC236}">
                <a16:creationId xmlns:a16="http://schemas.microsoft.com/office/drawing/2014/main" id="{D13C3537-FB8D-410A-933C-42A04568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014024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sz="2400" b="1">
                <a:solidFill>
                  <a:srgbClr val="000000"/>
                </a:solidFill>
                <a:latin typeface="Styrene A Bold"/>
                <a:ea typeface="Styrene A Bold"/>
                <a:cs typeface="Styrene A Bold"/>
              </a:rPr>
              <a:t>ИТОГ</a:t>
            </a:r>
          </a:p>
        </p:txBody>
      </p:sp>
    </p:spTree>
    <p:extLst>
      <p:ext uri="{BB962C8B-B14F-4D97-AF65-F5344CB8AC3E}">
        <p14:creationId xmlns:p14="http://schemas.microsoft.com/office/powerpoint/2010/main" val="1386574703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2026-06-01T10:46:03.2560000Z</dcterms:created>
  <dcterms:modified xsi:type="dcterms:W3CDTF">2026-06-01T10:46:03.2560000Z</dcterms:modified>
</coreProperties>
</file>